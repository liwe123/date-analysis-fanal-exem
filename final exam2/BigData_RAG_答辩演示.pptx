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adb267e50747b8" /><Relationship Type="http://schemas.openxmlformats.org/officeDocument/2006/relationships/extended-properties" Target="/docProps/app.xml" Id="R4a5bee611cc94eed" /><Relationship Type="http://schemas.openxmlformats.org/officeDocument/2006/relationships/officeDocument" Target="/ppt/presentation.xml" Id="Ra3aa72f2e2224f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96170b570b4d8e"/>
  </p:sldMasterIdLst>
  <p:notesMasterIdLst>
    <p:notesMasterId xmlns:r="http://schemas.openxmlformats.org/officeDocument/2006/relationships" r:id="Ra18ae947e7fa4436"/>
  </p:notesMasterIdLst>
  <p:sldIdLst>
    <p:sldId xmlns:r="http://schemas.openxmlformats.org/officeDocument/2006/relationships" id="256" r:id="R1176eff5210449f5"/>
    <p:sldId xmlns:r="http://schemas.openxmlformats.org/officeDocument/2006/relationships" id="257" r:id="R96451dc7fd57436e"/>
    <p:sldId xmlns:r="http://schemas.openxmlformats.org/officeDocument/2006/relationships" id="258" r:id="R1f1ba796167643c3"/>
    <p:sldId xmlns:r="http://schemas.openxmlformats.org/officeDocument/2006/relationships" id="259" r:id="Rec9248bac8f848f5"/>
    <p:sldId xmlns:r="http://schemas.openxmlformats.org/officeDocument/2006/relationships" id="260" r:id="R5c5ad9fa01344fcc"/>
    <p:sldId xmlns:r="http://schemas.openxmlformats.org/officeDocument/2006/relationships" id="261" r:id="R323cd15e9ebb4d4e"/>
    <p:sldId xmlns:r="http://schemas.openxmlformats.org/officeDocument/2006/relationships" id="262" r:id="Rfb13e158d06f4dce"/>
    <p:sldId xmlns:r="http://schemas.openxmlformats.org/officeDocument/2006/relationships" id="263" r:id="R925af0d62cd14cb4"/>
    <p:sldId xmlns:r="http://schemas.openxmlformats.org/officeDocument/2006/relationships" id="264" r:id="Rb8c59e8362eb4df0"/>
    <p:sldId xmlns:r="http://schemas.openxmlformats.org/officeDocument/2006/relationships" id="265" r:id="Ra2d057927eea416b"/>
    <p:sldId xmlns:r="http://schemas.openxmlformats.org/officeDocument/2006/relationships" id="266" r:id="Rbee5b2341b194e66"/>
    <p:sldId xmlns:r="http://schemas.openxmlformats.org/officeDocument/2006/relationships" id="267" r:id="Rc6462947d5c140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148fab188d44df" /><Relationship Type="http://schemas.openxmlformats.org/officeDocument/2006/relationships/slideMaster" Target="/ppt/slideMasters/slideMaster1.xml" Id="Ra396170b570b4d8e" /><Relationship Type="http://schemas.openxmlformats.org/officeDocument/2006/relationships/notesMaster" Target="/ppt/notesMasters/notesMaster1.xml" Id="Ra18ae947e7fa4436" /><Relationship Type="http://schemas.openxmlformats.org/officeDocument/2006/relationships/presProps" Target="/ppt/presProps.xml" Id="Rb279a33426084fea" /><Relationship Type="http://schemas.openxmlformats.org/officeDocument/2006/relationships/viewProps" Target="/ppt/viewProps.xml" Id="Ra3b95072a9e0447f" /><Relationship Type="http://schemas.openxmlformats.org/officeDocument/2006/relationships/tableStyles" Target="/ppt/tableStyles.xml" Id="Rb56800788bf54df9" /><Relationship Type="http://schemas.openxmlformats.org/officeDocument/2006/relationships/slide" Target="/ppt/slides/slide1.xml" Id="R1176eff5210449f5" /><Relationship Type="http://schemas.openxmlformats.org/officeDocument/2006/relationships/slide" Target="/ppt/slides/slide2.xml" Id="R96451dc7fd57436e" /><Relationship Type="http://schemas.openxmlformats.org/officeDocument/2006/relationships/slide" Target="/ppt/slides/slide3.xml" Id="R1f1ba796167643c3" /><Relationship Type="http://schemas.openxmlformats.org/officeDocument/2006/relationships/slide" Target="/ppt/slides/slide4.xml" Id="Rec9248bac8f848f5" /><Relationship Type="http://schemas.openxmlformats.org/officeDocument/2006/relationships/slide" Target="/ppt/slides/slide5.xml" Id="R5c5ad9fa01344fcc" /><Relationship Type="http://schemas.openxmlformats.org/officeDocument/2006/relationships/slide" Target="/ppt/slides/slide6.xml" Id="R323cd15e9ebb4d4e" /><Relationship Type="http://schemas.openxmlformats.org/officeDocument/2006/relationships/slide" Target="/ppt/slides/slide7.xml" Id="Rfb13e158d06f4dce" /><Relationship Type="http://schemas.openxmlformats.org/officeDocument/2006/relationships/slide" Target="/ppt/slides/slide8.xml" Id="R925af0d62cd14cb4" /><Relationship Type="http://schemas.openxmlformats.org/officeDocument/2006/relationships/slide" Target="/ppt/slides/slide9.xml" Id="Rb8c59e8362eb4df0" /><Relationship Type="http://schemas.openxmlformats.org/officeDocument/2006/relationships/slide" Target="/ppt/slides/slide10.xml" Id="Ra2d057927eea416b" /><Relationship Type="http://schemas.openxmlformats.org/officeDocument/2006/relationships/slide" Target="/ppt/slides/slide11.xml" Id="Rbee5b2341b194e66" /><Relationship Type="http://schemas.openxmlformats.org/officeDocument/2006/relationships/slide" Target="/ppt/slides/slide12.xml" Id="Rc6462947d5c140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d29a5e3f0a44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a2410f0ccd4dfa" /><Relationship Type="http://schemas.openxmlformats.org/officeDocument/2006/relationships/notesMaster" Target="/ppt/notesMasters/notesMaster1.xml" Id="R5143ff6b9ca447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109a615f784b44" /><Relationship Type="http://schemas.openxmlformats.org/officeDocument/2006/relationships/notesMaster" Target="/ppt/notesMasters/notesMaster1.xml" Id="R2837d08d0d454a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cd87bc777a424b" /><Relationship Type="http://schemas.openxmlformats.org/officeDocument/2006/relationships/notesMaster" Target="/ppt/notesMasters/notesMaster1.xml" Id="Rfabe1188ab6446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277a1e66544047" /><Relationship Type="http://schemas.openxmlformats.org/officeDocument/2006/relationships/notesMaster" Target="/ppt/notesMasters/notesMaster1.xml" Id="R98526259f95147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36100b2d5940e2" /><Relationship Type="http://schemas.openxmlformats.org/officeDocument/2006/relationships/notesMaster" Target="/ppt/notesMasters/notesMaster1.xml" Id="R69184c71d7134b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aaf137ff1a4fbf" /><Relationship Type="http://schemas.openxmlformats.org/officeDocument/2006/relationships/notesMaster" Target="/ppt/notesMasters/notesMaster1.xml" Id="Rdabe67ac73804f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b3f943cea54108" /><Relationship Type="http://schemas.openxmlformats.org/officeDocument/2006/relationships/notesMaster" Target="/ppt/notesMasters/notesMaster1.xml" Id="Rd2506c7287c34d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ce2126c82c4647" /><Relationship Type="http://schemas.openxmlformats.org/officeDocument/2006/relationships/notesMaster" Target="/ppt/notesMasters/notesMaster1.xml" Id="R6d6d1c35c67241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c007b926354c51" /><Relationship Type="http://schemas.openxmlformats.org/officeDocument/2006/relationships/notesMaster" Target="/ppt/notesMasters/notesMaster1.xml" Id="R0a7b1329ab9941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16fa5bc2f04917" /><Relationship Type="http://schemas.openxmlformats.org/officeDocument/2006/relationships/notesMaster" Target="/ppt/notesMasters/notesMaster1.xml" Id="Rc3655016bcf244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a6b87e47ea34dd4" /><Relationship Type="http://schemas.openxmlformats.org/officeDocument/2006/relationships/notesMaster" Target="/ppt/notesMasters/notesMaster1.xml" Id="R2b123ffaa2a549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ea692868d14a02" /><Relationship Type="http://schemas.openxmlformats.org/officeDocument/2006/relationships/notesMaster" Target="/ppt/notesMasters/notesMaster1.xml" Id="R0aad75ebcf0547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46fca4e9e49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3a5e94d9cb489a" /><Relationship Type="http://schemas.openxmlformats.org/officeDocument/2006/relationships/slideLayout" Target="/ppt/slideLayouts/slideLayout1.xml" Id="R45a29735bcad49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a29735bcad49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bbd1d26834cb5" /><Relationship Type="http://schemas.openxmlformats.org/officeDocument/2006/relationships/notesSlide" Target="/ppt/notesSlides/notesSlide1.xml" Id="Rfe7a7681d7c948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d753a72c34ec3" /><Relationship Type="http://schemas.openxmlformats.org/officeDocument/2006/relationships/image" Target="/ppt/media/image.png" Id="R5377d4a5c9564a38" /><Relationship Type="http://schemas.openxmlformats.org/officeDocument/2006/relationships/image" Target="/ppt/media/image.svg" Id="Rb4dd4bb4277148fe" /><Relationship Type="http://schemas.openxmlformats.org/officeDocument/2006/relationships/notesSlide" Target="/ppt/notesSlides/notesSlide2.xml" Id="R19795270e53242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28c2f871641dc" /><Relationship Type="http://schemas.openxmlformats.org/officeDocument/2006/relationships/image" Target="/ppt/media/image2.png" Id="Recf89a877bbb40cb" /><Relationship Type="http://schemas.openxmlformats.org/officeDocument/2006/relationships/image" Target="/ppt/media/image2.svg" Id="R2d80c091a7d8466d" /><Relationship Type="http://schemas.openxmlformats.org/officeDocument/2006/relationships/image" Target="/ppt/media/image3.png" Id="R90a3ca34c2e14226" /><Relationship Type="http://schemas.openxmlformats.org/officeDocument/2006/relationships/image" Target="/ppt/media/image3.svg" Id="Rc900024f465348db" /><Relationship Type="http://schemas.openxmlformats.org/officeDocument/2006/relationships/notesSlide" Target="/ppt/notesSlides/notesSlide3.xml" Id="Rd386f641478445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292aa47744927" /><Relationship Type="http://schemas.openxmlformats.org/officeDocument/2006/relationships/image" Target="/ppt/media/image4.png" Id="R309457c074b94d67" /><Relationship Type="http://schemas.openxmlformats.org/officeDocument/2006/relationships/image" Target="/ppt/media/image4.svg" Id="R4c592a656bc54a1f" /><Relationship Type="http://schemas.openxmlformats.org/officeDocument/2006/relationships/image" Target="/ppt/media/image5.png" Id="R0599e5d83cb1465a" /><Relationship Type="http://schemas.openxmlformats.org/officeDocument/2006/relationships/image" Target="/ppt/media/image5.svg" Id="R50e8ecd6988747b4" /><Relationship Type="http://schemas.openxmlformats.org/officeDocument/2006/relationships/notesSlide" Target="/ppt/notesSlides/notesSlide4.xml" Id="R4a02d56dcf4f46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4fa7ac751415c" /><Relationship Type="http://schemas.openxmlformats.org/officeDocument/2006/relationships/notesSlide" Target="/ppt/notesSlides/notesSlide5.xml" Id="R217fdca49d9642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1d1bcacfe4164" /><Relationship Type="http://schemas.openxmlformats.org/officeDocument/2006/relationships/notesSlide" Target="/ppt/notesSlides/notesSlide6.xml" Id="R9e6887c6ed2d4e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464de9293444c" /><Relationship Type="http://schemas.openxmlformats.org/officeDocument/2006/relationships/notesSlide" Target="/ppt/notesSlides/notesSlide7.xml" Id="Rdd1e6d3e31234a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dfea5be8844bf" /><Relationship Type="http://schemas.openxmlformats.org/officeDocument/2006/relationships/image" Target="/ppt/media/image6.png" Id="Rd6d7b39441124ff9" /><Relationship Type="http://schemas.openxmlformats.org/officeDocument/2006/relationships/image" Target="/ppt/media/image6.svg" Id="R041d8c49be324be4" /><Relationship Type="http://schemas.openxmlformats.org/officeDocument/2006/relationships/image" Target="/ppt/media/image7.png" Id="R75fe144151694bd4" /><Relationship Type="http://schemas.openxmlformats.org/officeDocument/2006/relationships/image" Target="/ppt/media/image7.svg" Id="R48595896a89342a9" /><Relationship Type="http://schemas.openxmlformats.org/officeDocument/2006/relationships/image" Target="/ppt/media/image8.png" Id="Rb390ff53d89d4443" /><Relationship Type="http://schemas.openxmlformats.org/officeDocument/2006/relationships/image" Target="/ppt/media/image8.svg" Id="Rec07212eef314278" /><Relationship Type="http://schemas.openxmlformats.org/officeDocument/2006/relationships/image" Target="/ppt/media/image9.png" Id="R32632fa2ff7e432a" /><Relationship Type="http://schemas.openxmlformats.org/officeDocument/2006/relationships/image" Target="/ppt/media/image9.svg" Id="R919b2cb2322f4bc1" /><Relationship Type="http://schemas.openxmlformats.org/officeDocument/2006/relationships/notesSlide" Target="/ppt/notesSlides/notesSlide8.xml" Id="R77eac7a6260447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d2eae46334bb4" /><Relationship Type="http://schemas.openxmlformats.org/officeDocument/2006/relationships/notesSlide" Target="/ppt/notesSlides/notesSlide9.xml" Id="Rbcec6950210c49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4346041b7440d" /><Relationship Type="http://schemas.openxmlformats.org/officeDocument/2006/relationships/notesSlide" Target="/ppt/notesSlides/notesSlide10.xml" Id="Ra62964037c7e4c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d594358214b64" /><Relationship Type="http://schemas.openxmlformats.org/officeDocument/2006/relationships/notesSlide" Target="/ppt/notesSlides/notesSlide11.xml" Id="Rd9c30ade21e644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c931439ac647d9" /><Relationship Type="http://schemas.openxmlformats.org/officeDocument/2006/relationships/image" Target="/ppt/media/image10.png" Id="Redfe457d078c46cc" /><Relationship Type="http://schemas.openxmlformats.org/officeDocument/2006/relationships/image" Target="/ppt/media/image10.svg" Id="Rb4885f6eecce4e4f" /><Relationship Type="http://schemas.openxmlformats.org/officeDocument/2006/relationships/notesSlide" Target="/ppt/notesSlides/notesSlide12.xml" Id="R8ab0f412e04e483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375939-8328-4E92-9FB5-91DDF725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B15D7-3346-46DC-9FEA-775D299C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72172-0489-47A6-A86B-B9A0241C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672F3-6695-4F3A-A05A-8E8686CD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76EE4-50AB-42F4-A21B-FE8C2DDA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A9EF2-ACC4-4E5B-9C2E-AB586E46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29F0D-BACA-42AC-8BAD-DDE44C57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CD44FA-55E1-4F5C-A877-B649F584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EDC47E-5717-4FA4-9855-B456352E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72812-AC3C-4FF6-B12C-60A7E8D3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D6A8D-A1CD-4FB8-892C-428EB7A7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182F4-4A3E-455D-BA31-A328BB2C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5E7A9-7C9F-4D7F-AF7A-50E39AAC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60FC5A-FBB0-4552-8A44-FFFD1AF5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54FE6-A809-4850-B15A-FABCE20E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1B4404-AF82-4021-A169-088ACE1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大数据学期项目 · 方向 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CA4DC5-C2A3-4CA2-9CD4-ED4AB293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524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RAG 知识库检索增强生成系统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0B6B05-E63F-42B1-9167-10AFF5F8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从文档摄取、清洗分块、向量索引，到混合检索与带来源回答的一体化工程实现。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B4968-EC2E-4855-862C-474F1CD4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7429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4289B-D354-44E6-9EB7-684F8E98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685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rPr>
              <a:t>一句话定义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DE026-C593-4872-AAA3-1F80D774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6572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把分散、口语化、难检索的课程与大数据资料，转换成可追溯、可演示、可评估的问答助手。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949483-F355-4CEF-A7C1-949826A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85725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E288EA-2644-474D-B0FF-8AF9DD5F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00965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ED8A3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8ED8A3"/>
                </a:solidFill>
                <a:latin typeface="Segoe UI"/>
                <a:ea typeface="Segoe UI"/>
                <a:cs typeface="Segoe UI"/>
              </a:rPr>
              <a:t>91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B16A1-9057-4807-BD57-92708EB4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621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pytest 用例全量通过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475EA8-B79F-466D-B235-4388F9BF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5265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9050EF-FF3B-4950-91D6-71983BFE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0505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87.8%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73D93-9920-4624-BD9E-E07C643C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Recall@3 评估表现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A00563-7BBE-4C41-A296-8DAE094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4805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1DF826-D279-4F02-8B29-35EB4E56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60045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E81829-FCC7-48A3-8B97-BF78FB95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1529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覆盖查询评估集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7B6793-8877-44EC-8DA4-83D53633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4345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515FB8-3A66-4B4F-8376-CAC453A7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9585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9A2F6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A9A2F6"/>
                </a:solidFill>
                <a:latin typeface="Segoe UI"/>
                <a:ea typeface="Segoe UI"/>
                <a:cs typeface="Segoe UI"/>
              </a:rPr>
              <a:t>1.2M+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4EC86F-1B69-4A42-813E-0BEAE80F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483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百万级向量索引规模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0E6CA2-DABC-4D2F-82E8-D2F1E9D4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67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C35AE-D6E4-4702-853F-42AB70C6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67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1313BB-3DE3-4DAF-BC8A-3EB851A0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67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D9E390-D7E8-47D9-9183-482D3B4D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067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A09E47-DF0B-411D-B6E1-BC18EC32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67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BFCC01-2692-4ADC-855B-81D38DC1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72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2EEA96-A369-4E2F-8A70-6064CB27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372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7B18A0-62E0-4A57-B111-D6AF492A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372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F26F81-6349-4201-B468-011BEAF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72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0EB9EA-969B-49AA-9B8C-F76799A1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72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C12DF3-E291-4CA7-A4ED-343D6888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76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14C9E9-56EB-4140-A478-07744367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676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80076B-70FA-4054-B16E-FF245913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76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EBEE6B-8E31-4134-BC09-B900457D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676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6858A9-FCDB-454C-AF1D-F91C69B3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38518B-BD84-4C75-902E-8666577B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Final project introduction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F05D965-E619-4D20-BDDB-AE6DE73A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4604354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04FCB8-DF88-4273-A1EE-F6B6DA2B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4E7D2-E38C-4726-B9BE-03965CA0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E3D35-3AB7-4B6F-9AF3-F88E743D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57FA8-54F9-4D82-8445-2518EDE2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C7F78-B59D-40F6-9314-9238D6AB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5CC5C-7CCE-4F05-8CA8-DD2D2667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4FD24-D396-4F13-A807-420CFF68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4CA17-F336-42B9-973A-9580C09E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D94EF-27C7-408D-959E-EF9CB747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52320-ED57-49A6-BB49-987D6FD5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C7101-44B6-4FF3-800A-D7746D69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4CFE6-C810-4707-A675-26B3FCA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C2A0FF-D413-41C2-A6EC-A0F3FFC8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A0126-3178-462C-AF5D-C18FAAF4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AC07F-2883-4779-956A-6E52B31B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6287C1-C313-473C-AAF0-A2BBD9C1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COURSE BRIEF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A257F4-E4DC-4F96-BBC9-21804F22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老师要求什么，我们交什么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84C731-97EB-4815-BF9B-BC4C7CEB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RAG 方向不只看界面，关键是完整数据管线、工程文档和现场可运行演示。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2B5CDB-3694-4EA2-A16C-5CF438DC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323850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8CF7C0-3C00-450D-8082-B6B317B2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81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rPr>
              <a:t>课程交付要求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F2C326-3BA7-4AC5-A3B9-31607F6A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28194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技术报告 / 工程设计文档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架构图与技术取舍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云成本估算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已知问题与复盘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代码库 + Jupyter Notebook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10 分钟最终演示 + 5 分钟问答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B70AA8-CF82-4C5C-B60D-EE9E5CD9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47900"/>
            <a:ext cx="323850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9F8F9F-E39B-42C7-881F-05A35A65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19350"/>
            <a:ext cx="281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rPr>
              <a:t>本项目已准备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81F199-BD3D-46FD-88CF-B7457A6A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62250"/>
            <a:ext cx="28194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report/report_ieee.pdf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pipeline_demo.ipynb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README 与 .env.example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src/ + app/ + tests/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评估 JSON 与延迟基准</a:t>
            </a:r>
          </a:p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Streamlit / CLI 双入口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CA8E97-4110-4F88-8D79-AF8ECD56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47900"/>
            <a:ext cx="25717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7d4a5c9564a38">
            <a:extLst>
              <a:ext uri="{96DAC541-7B7A-43D3-8B79-37D633B846F1}">
                <asvg:svgBlip xmlns:asvg="http://schemas.microsoft.com/office/drawing/2016/SVG/main" r:embed="Rb4dd4bb4277148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496300" y="25336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C49804-DFC8-4BC5-8FCC-6EDC00E4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演示目标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33E125-36A1-4DEA-9955-3C0FD198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7147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172883-9742-4C67-B9D9-0D15773E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1790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先讲问题与方案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CEF173-2989-4760-B84B-BDD6EE1F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71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12D7CE-D138-4DE2-8CDE-F0082D69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95750"/>
            <a:ext cx="1790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再展示架构链路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C27802-19AF-49B1-8FB1-6042A009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29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55916-83D3-465C-B392-3C74BEE8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52950"/>
            <a:ext cx="1790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最后用指标守住答辩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EDD4BB-C01A-4E1B-86C3-E3166300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B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35D45B-FDC7-4840-BE03-03DD503E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86425"/>
            <a:ext cx="2590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rPr>
              <a:t>PDF 要求已映射到代码库材料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C2154C-5491-41B5-97D0-6CD4C384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197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B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4906C5-238C-4282-888D-8B123B5B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686425"/>
            <a:ext cx="2590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Notebook 已修复并同步项目口径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D69831-53A1-447A-BC21-E307929C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6197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B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E58108-9EC3-42F1-B6F8-058F9D7B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686425"/>
            <a:ext cx="2590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rPr>
              <a:t>演示链路控制在 10 分钟内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BC7830-6FEF-4781-9017-D4F13644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94F2F2-160F-4279-B446-1F7324A2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21684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60D450-381E-4711-B615-6EA097F3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F044E-D40C-4DCB-99D4-D4F4A256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51A4C5-F5F5-44EE-864B-84E25811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C5D74-B071-4B26-955D-EA649C59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18971-C13E-441F-96CD-201105D6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F9413-0866-4911-ABEE-36DA23AC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BC342-980D-49F0-980F-DB566475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2E575-F7A2-4049-BFDD-3E519484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3BC7B-A38A-46F9-8F58-6FE41D85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37274-DCF2-4725-B32B-04F3F19D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08F28-12ED-4589-ACFC-EDB65F94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4970E-2552-45E3-B6EE-BA4AD179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A4AA4-A80E-48DF-9C7D-AB28F6DF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E97A4-841C-4BC1-8D56-A21DBA4A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060292-6422-4CC6-BC0B-6B3EE255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993A3-7DBF-40B4-94CE-7007AD30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PROBLEM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F3C792-1C3D-41A0-B824-55A63F46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为什么需要这个 RAG 系统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CDEFBF-8B1A-4D1C-A203-55F8B22E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普通关键词搜索很难理解口语化问题，也无法稳定给出来源和拒答边界。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6ABA1C-5899-467C-A9CC-19E8E235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47675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D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89a877bbb40cb">
            <a:extLst>
              <a:ext uri="{96DAC541-7B7A-43D3-8B79-37D633B846F1}">
                <asvg:svgBlip xmlns:asvg="http://schemas.microsoft.com/office/drawing/2016/SVG/main" r:embed="R2d80c091a7d846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2500" y="25717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DA151A-0B5D-499C-BDDA-DAA78BB6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717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原始状态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8806A3-A114-469A-8765-1A03AE1F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AD9B7-8E42-42F5-B9C5-C9365F7F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0040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PDF、Markdown、博客和问答散落在不同来源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0B20B6-FECC-4AC6-BAF7-6B9C883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29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DD0CC9-77E6-4DB0-93DB-9FEAAB11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5285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同一个意图有多种表达，关键词命中不稳定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D1BA7C-144D-4BDA-B5F6-339504AB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391173-68F8-4451-BC56-D7538F3B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0530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答案需要引用材料，否则难以答辩和复核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AF6961-076F-4D95-89E6-87786359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447675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3ca34c2e14226">
            <a:extLst>
              <a:ext uri="{96DAC541-7B7A-43D3-8B79-37D633B846F1}">
                <asvg:svgBlip xmlns:asvg="http://schemas.microsoft.com/office/drawing/2016/SVG/main" r:embed="Rc900024f465348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0" y="25717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4635E5-E9D7-4A09-87D6-D0423C93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717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D6F7B4-1F0D-4396-BCB5-FB7153DD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AE3851-5BC4-457F-BB8C-8474F996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0040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自然语言问题自动转为检索意图和元数据过滤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403C81-FDA7-46C1-BB61-CD75D8E1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29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6B1333-9964-414F-B788-7654E38C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5285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向量语义检索召回相关文本块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7BDC3F-2270-4D3C-825F-54643CE5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81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750BAA-9678-459B-8501-126CD257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350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LLM 只基于上下文生成带来源回答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40E8A7-6CB8-432A-87C5-0652FCBE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5760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54C2F1-764D-4696-B3D4-66BBB0CA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19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E34594-1E4C-4349-B31D-B738680E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rPr>
              <a:t>项目价值：不是把 ChatGPT 接到前端，而是把数据工程、检索系统和生成约束串成可验证流水线。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E484D5-0D9B-4AF8-8DD3-96781B2E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25398A-820E-43AB-BE44-93705D64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192767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9CF7B0-1352-4DC4-9DF1-23E31CA2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04919-993D-42D7-BB6F-293B69B2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3A52F-9C44-4F9F-B00C-BE40FD1F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ED039-A175-4679-8231-81B88FC7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114E6-ABC8-4AD8-8BC8-41220767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B0DB1-E8E4-4B70-9ECD-9D74D47A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E175E-4F46-4E53-A59C-E918C4B3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81E39-70EA-4DB5-85BC-41E4EE88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F82EA-9644-4351-927B-8090F00B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B930D2-EDE3-4AAD-BAF8-885BAD5A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D95D0-4725-43D1-BADD-E6E1681C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E64D1-D091-42CB-857C-D4872F4D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44A28-C2B8-43DD-A899-CF4D2635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0CBA2E-D5EB-4316-AE9C-9119EEA8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DEF490-F214-4824-8E0E-32575BF2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CF1BC9-9316-4129-BF3A-DB6A7F1F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2CE2B0-9308-4559-9BDD-44025840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端到端架构：从语料到可追溯回答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5778E-A421-4B75-ACAD-F6D91F03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每个模块有清晰职责，入口只负责编排，业务逻辑留在对应层。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BD37C-6141-4FEC-8D8D-52D72E81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38400"/>
            <a:ext cx="13716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15EAAB-3F75-4837-A2F6-5CEB050E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38400"/>
            <a:ext cx="1371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CF09D7-7776-45B3-ACD3-BB718FDA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数据源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F0B783-E667-4C97-AE72-B0B13A3B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data/raw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Wikipedia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Stack Overflow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CSDN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27B36D-B2E4-4703-A5C9-C560D9DD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86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6A90E4-588A-4396-A5B2-79F7F030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0EE7BA-2233-4B00-BE01-0E34CBD7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38400"/>
            <a:ext cx="13716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C3686F-F61E-4019-9FF8-3604C8BF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38400"/>
            <a:ext cx="1371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EE0AD-E191-4C70-9CCF-37E6019C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5717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摄取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3CA3C9-5E19-4F87-99B9-CE212F76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575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ingest.py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collect_*.py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Front-Matter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F4550D-4DDD-4D35-9875-86C6005C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86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69F3AE-B9AE-4094-AD7A-5D62AF7C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FE1511-0181-44AF-93E4-F1F5843C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38400"/>
            <a:ext cx="13716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85E17F-24D8-44DD-824A-83DE3854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38400"/>
            <a:ext cx="1371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823122-74CF-4475-ABC4-ED4BBD38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717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824779-D493-4463-B9D2-3BA42B95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8575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preprocess.py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clean/chunk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metadata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B6A484-C308-41D8-B72D-42D28CB0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86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5E36FC-265C-4580-8D32-ECA89B7D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FBE3F8-62FD-4CF0-9BA4-C0F22CA2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38400"/>
            <a:ext cx="13716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A9A2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396ECE-56F8-41E0-8B0A-95A3C289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38400"/>
            <a:ext cx="1371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2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BDD4A2-B980-4906-B98C-14D26C06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B1F906-D907-4BA8-912D-C6BFD84B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575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embed_store.py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Embedding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ChromaDB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2D1E23-1302-46BE-B723-21B5840F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86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BD3F59-615C-4B76-AE2D-E3D877F5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F356CA-91F3-4242-AE52-993E9811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38400"/>
            <a:ext cx="13716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1FACEB-6C62-4CDD-9682-E07DD334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38400"/>
            <a:ext cx="1371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974F07-F024-451C-9B2F-A7BA25AB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717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查询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3656F3-F419-4533-8B88-E464A683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query_parser.py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filters + search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6C47FA-AB23-4AA2-A841-F5EF7A5F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86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3AC22B5-BE81-49F2-AC55-E7B677B1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C95458-5D0E-4219-A8BF-CA4D0DD4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13716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183942-8B2C-421E-B747-A765C439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1371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9B7291D-103D-449F-8C07-72823543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717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生成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3AF7A3-8C16-402E-95CD-A9218F4A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575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qa.py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source-cited answer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01E7D8-D985-46DB-A5CA-974F584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4038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457c074b94d67">
            <a:extLst>
              <a:ext uri="{96DAC541-7B7A-43D3-8B79-37D633B846F1}">
                <asvg:svgBlip xmlns:asvg="http://schemas.microsoft.com/office/drawing/2016/SVG/main" r:embed="R4c592a656bc54a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46101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174516-1860-4F94-A19D-DF587352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7200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CLI 入口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9261FDD-BC19-478A-AB9F-5223F8FA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7680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src/main.py 负责命令编排与环境初始化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C854B47-FEC1-4229-B06A-E3AF1D96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24350"/>
            <a:ext cx="4038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9e5d83cb1465a">
            <a:extLst>
              <a:ext uri="{96DAC541-7B7A-43D3-8B79-37D633B846F1}">
                <asvg:svgBlip xmlns:asvg="http://schemas.microsoft.com/office/drawing/2016/SVG/main" r:embed="R50e8ecd6988747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53100" y="46101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340DB1-13D9-4183-8B61-C581F51B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7200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Web 入口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51A5915-D52F-4C49-AA11-DA87DD2B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7680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app/streamlit_app.py 提供问答、调试与数据管理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7E45A45-37C7-44F8-990D-F7430594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752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4DC4A89-D15D-42B0-888A-F619A943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257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6CC5E9A-F016-4AA5-B25C-06B947FE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52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7EDE65F-366B-4B16-84B5-FA80FD2F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57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3344164-5025-475A-AE41-A45F311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75C32E-302D-4B04-AD1A-65B839E6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6963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9FA98-86B5-457B-A832-80C20072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22B52-846C-4BB2-8E89-1669C9A6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2DD50-1E57-4CB3-8B8C-3702DA36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A912-290E-4C12-B866-12E6CB6D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91C4E-9814-467C-B673-CE3187A6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F5719-F3F9-475E-9537-948EBD9C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8BAC88-8B70-43AE-964A-7D32BA8A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67553-4CBD-444B-911F-AFBFB9A1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E1B9FE-1732-42EE-9515-C665619B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D932B-C79B-4216-9E17-202C0D27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FC1A9-E10F-4186-84CB-9F946291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E7D07-CBB3-4CF8-8A39-D4E5D27E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189384-A16B-4844-AE7C-7321A3DF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85445-8EAB-431A-B687-2001923D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55E20-7BA1-442A-ADCF-33928E62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A783F-9E9D-44A9-94C8-81479594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DATA FOUNDATION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0B8BD-ABAE-4A55-83F4-BE492572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数据底座：从课程资料扩展到大数据知识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96C660-89CE-40AE-9174-B9227A43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用课程材料支撑问答场景，用外部语料扩展 Hadoop、Spark、Flink 等主题覆盖。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7D8F2-ED39-420A-8D3F-AFDE35A9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80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BFC14-99AF-4756-862A-09ED342C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1466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176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4818C9-35E0-4645-8993-F84B093D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data/raw Markdown 文件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F6EAB2-7029-4380-893A-88A9881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47900"/>
            <a:ext cx="180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C21441-24F6-4D88-84B0-B4EFD5E6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00300"/>
            <a:ext cx="1466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ED8A3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8ED8A3"/>
                </a:solidFill>
                <a:latin typeface="Segoe UI"/>
                <a:ea typeface="Segoe UI"/>
                <a:cs typeface="Segoe UI"/>
              </a:rPr>
              <a:t>175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BBD908-5782-400B-9A7E-97F092A7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718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非空文档可加载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0F9406-2856-4938-834F-B92E0F85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247900"/>
            <a:ext cx="180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16376B-E272-47BA-9BC6-DC569C2B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00300"/>
            <a:ext cx="1466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83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1933FE-47FE-4FB8-B727-68205BDB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9718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Wikipedia 词条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595931-CFCE-4A53-8D1C-F5447330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47900"/>
            <a:ext cx="180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851D90-517F-481C-8293-409AEBA9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1466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9A2F6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A9A2F6"/>
                </a:solidFill>
                <a:latin typeface="Segoe UI"/>
                <a:ea typeface="Segoe UI"/>
                <a:cs typeface="Segoe UI"/>
              </a:rPr>
              <a:t>30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23A218-B771-468C-A55D-63C72F3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718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Stack Overflow 问答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F47581-73DC-4BF3-BB39-D4830A05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47900"/>
            <a:ext cx="180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609671-1362-41B0-AECE-DD35A8F6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00300"/>
            <a:ext cx="1466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6F96BB-2CFB-4328-88C5-55E0D461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718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CSDN 博客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DAB05A-162C-47F6-9AEC-1D7DCCC0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648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7E26C9-E933-4478-8DB1-33CBCB0A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371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语料设计原则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4CC1F5-F449-4C11-8F0F-0A00F4E1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59BC4B-3939-4A94-A654-52C7FA2A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29150"/>
            <a:ext cx="369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课程问答材料保证演示贴题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6E26D5-2C7C-4F05-B04B-F0607D8D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67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06E69B-3703-473B-846F-5F029B0D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69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技术百科与社区问答保证主题宽度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2000E1-0FCB-4C84-8256-420F20A5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05250"/>
            <a:ext cx="4953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01869A-44EA-4FE2-AABB-5BEE1987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7195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索引规模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BD9950-6D6C-47FC-A01D-CBFF53E6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720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300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1.2M+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AE16D3-C3CA-47C7-8139-EF938FEB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67250"/>
            <a:ext cx="2667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百万级文本块向量索引，支撑混合检索评估。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6F3A6A-7BC6-4482-88B1-F57C4F47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7FA2D50-9666-40D4-9336-15BE106B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8901578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537991-019B-4921-B7DF-AA3F76FF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5E755-226A-454B-BB11-85556CE5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A77A5-1145-41EB-BE2A-8D9113EE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1D1A8-1D6E-4F58-B4AB-14539B5E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E40AB-8DB4-4969-96A0-0309EF13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2B8F2-91ED-4934-BD55-C38644D7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47CF0-4390-4E79-88EE-7636B739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BEADD-531F-4319-8C6A-6CDAA414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7F9841-DC40-4304-A9C5-6410C152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3D478E-E722-4F16-B8B2-D6FB9B06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386C0-F537-4D29-8D75-FCDCB00F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241CE-21B4-4D15-93F5-E5055743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C2AD8-1407-4BE4-AE98-EE3273A9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0052E-2972-491F-BC03-EFCBC150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D30BB0-7F5C-4999-828B-161F1BA2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D6D0D5-10ED-4B18-9E88-B3046238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7A886-FE87-41B0-9D30-ACE6B4BB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预处理流水线：把杂乱文本变成可检索知识块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A6530-3DDC-4B87-8D5C-967DF1F5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清洗、分块、元数据提取和嵌入都可单独测试，也能被 CLI/Web 编排复用。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201CCE-978D-4DE4-B5F4-D16CD498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BCC96D-0AFF-4C8B-B30A-8E10A112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981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2A0D16-1F45-41BC-A61C-5378A8D9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01 清洗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CB1589-C2B8-46D3-AE46-27BB3612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HTML 标签、实体、控制符、空白归一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2D97A1-9D2C-42AC-A2D3-D870990C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194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1B0210-35A7-4F67-995B-7570ADCF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3C136D-C670-4031-8244-59C90823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765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F1A61C-CE3B-469C-AFB6-D1E0872B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76500"/>
            <a:ext cx="1981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29F12B-DE1B-45B2-9308-8A748E23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098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02 分块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BA39DB-37FF-4C8F-A4DA-A3C27F7E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956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段落 → 句子 → 贪心窗口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chunk=700, overlap=120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7EC99F-18CB-478F-9134-78FE9406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194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3EDF56-2C43-48F7-B42A-B1D04FB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72F47D-37F0-42C2-A820-BA7D8882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4765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159863-5C8B-4D7B-8F96-77C0FB3C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476500"/>
            <a:ext cx="1981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EC409C-0A60-4153-A9FA-8E129885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098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03 元数据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86385B-56E9-4F94-915E-6A0DEB8E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作者、年份、分类、语言、摘要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安全回退默认结构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01DCCC-A1BE-4B79-A704-712BBA47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194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EFD146-E7CC-43EC-9356-1A52E4F3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9856E4-C037-4817-B590-D4EEFBF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765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A9A2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D686EA-B411-4DC5-B77A-B0494816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76500"/>
            <a:ext cx="1981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2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908D8D-8AFB-4558-BB31-479258A3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04 嵌入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53542A-B056-49E2-BDD0-6A28DF5F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95600"/>
            <a:ext cx="1714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本地/远程 Embedding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向量写入 ChromaDB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A2CEED-91E5-4524-86EE-281BC44D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48200"/>
            <a:ext cx="403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3CAADC-2504-4AE0-BCE0-97833C1C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958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工程防线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9A224A-81B6-467D-990D-FB448B36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97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外部 API 失败会日志警告并返回安全回退值。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CD0AB9-6307-4CDC-A030-6E98E426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48200"/>
            <a:ext cx="403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16E07D-F527-463B-BAA1-AD6AD425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8958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边界保护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C7EA04-E59E-4A40-890F-3827734C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2197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宽泛异常先保护 KeyboardInterrupt / SystemExit。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BFBCE6-B54A-4D8F-A1EF-9E3CD019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E5FABA-1419-440A-A0FF-086A0CFA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850104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AAD81A-DA34-4EEA-AAD2-139BBF82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8317F-1091-4E5C-8371-911EE9B7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E5273-C01B-4839-8D1D-AE47643B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7967A-6120-4959-87DF-CF5515A4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40949-CB7F-455F-86B1-D870ECC7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C09E5-47B8-4F61-85F8-4644A23F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5DA1D-5588-4BA9-93B1-EABAC49F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8C7F4-C22B-491F-B1BA-BB1E33AA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C7BE2-12F1-42C4-9107-D7DA7A6B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F5E62-84C1-4126-9E8F-0C5C97FF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21F869-2822-4C99-A6AB-77364FA6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FAAF8-0E62-49A9-8D03-8E78025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C5B118-16A0-4D07-9B2B-899077A7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A6D83-0A79-4D29-BCDC-4EA6D74B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2F87BB-9394-481F-9FDF-72887797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082C2-46A9-459B-ABC3-26103C4B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RETRIEVAL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1AB1F-7702-40FF-A921-C6ACB0BF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混合检索：语义召回 + 元数据过滤 + 生成约束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45C23C-7162-45AE-AD36-C09C9B7E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检索不是单一向量搜索，而是先理解问题，再用结构化条件收紧答案空间。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6053F-AA13-4DFE-9B22-A5E0789D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0383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AE936C-CAE2-4E81-A8D0-38EFA0A9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038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305E2-9270-4C80-80A1-48734762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1771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自然语言问题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F51B83-CB80-457D-A4E3-8EF04FEB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1771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“2025 年的通知里讲了什么？”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D98890-C789-453D-9DE2-3BB93850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20383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9AD99A-1475-4F65-9B5A-3BDDDF1C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2038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10D527-C630-4F5C-BE0C-B025DD6D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33650"/>
            <a:ext cx="1771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query_parser.py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A0BDBC-6181-4653-A47C-FC8F9B9E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19400"/>
            <a:ext cx="1771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search_query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filters / raw_filters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1BBA20-6131-4C39-A6A1-282A0502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20383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CBEFCC-2221-43CA-AE8D-3DA0D3B2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2038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8D7F31-1CC9-42F8-B77C-C1A32819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33650"/>
            <a:ext cx="1771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VectorStore.search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E512D1-7C5F-4F0A-A4C8-BE408C39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819400"/>
            <a:ext cx="1771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semantic vector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metadata where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036EF3-9F73-47C7-BBC1-29CAD33A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0300"/>
            <a:ext cx="20383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A9A2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01CE32-BE8A-4DC4-93CA-8F71B7D9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0300"/>
            <a:ext cx="2038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2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0AE331-3A55-4806-8338-B8B3A74C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33650"/>
            <a:ext cx="1771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qa.py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6B6824-D5D0-4DEE-A6EB-8AD2D8AD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19400"/>
            <a:ext cx="1771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上下文约束</a:t>
            </a:r>
          </a:p>
          <a:p xmlns:a="http://schemas.openxmlformats.org/drawingml/2006/main">
            <a:pPr algn="l">
              <a:def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来源强制标注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EF1AD4-9A48-4A2E-946B-7F3FF385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289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1B75E7-1ACD-4876-9F48-20C9148F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990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087012-B7A2-4BAD-9880-2600EA0D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289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583190-1B9A-40F5-A187-58B83739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990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08CF35-AD72-4D9C-895B-9401B88C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289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3BA5C4-4293-4461-BCF6-90EC00CC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990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783DCD-8849-4150-9445-82FB6C63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17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782F80-8B50-4888-997A-61F3B6D7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72000"/>
            <a:ext cx="3733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7D9E8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>
                <a:solidFill>
                  <a:srgbClr val="67D9E8"/>
                </a:solidFill>
                <a:latin typeface="Cascadia Mono"/>
                <a:ea typeface="Cascadia Mono"/>
                <a:cs typeface="Cascadia Mono"/>
              </a:rPr>
              <a:t>{"search_query": "通知", "filters": {"year": 2025, "category": "notice"}}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9ED1F1-A358-4914-A1FA-E285153B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43400"/>
            <a:ext cx="4171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08A3F1-E772-437A-AA06-396B19A7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72000"/>
            <a:ext cx="3733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rPr>
              <a:t>多字段 where 自动转换为显式 $and；再用 max_distance 控制低相关召回。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44EF3B-4F5A-444A-B514-DD74D07F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E088C51-B01E-4C7C-A27A-DB4A7127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87375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8D7E4F-AA95-4747-908A-82A6D85A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56DEE-234E-42E7-A459-E4FEF9A3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116FD0-45C4-4E49-96BA-A4F87818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79C5C-0197-453E-AE93-3D61FACA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4676D-B86A-4B39-A94D-85164D35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5D493-7436-4A8E-9EF3-8CF6F3F1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C5FEE-9F03-4C45-8A31-E55DE5A7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E2D57-97F6-40CC-BE6B-6E7EC696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A54F0-98CE-4A8F-BE16-467580C9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53444-4A77-4AE0-B40D-17B12D07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09F520-FE29-44C7-86E3-D2BDA376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5BB7E-CCFD-46D2-A76E-920FDECB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AA9F6D-9467-457A-BC4F-62F42DC7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0F07DA-85B3-4192-9FE4-CC8E1A0D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F338E-F0A7-44C4-A9A9-40D5EBC9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231D01-FCC6-4CB9-9E38-16234B09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PRODUCT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11F80A-3BF5-431E-B9F1-8BB72277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交互与交付：老师能跑，队友能讲，代码能复现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BEDE1C-6102-450C-B803-F71908F7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项目交付不只是一段脚本，而是一组围绕演示和复核组织好的入口。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CD998-C2CD-4084-8C1A-C9EA3A3E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038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7b39441124ff9">
            <a:extLst>
              <a:ext uri="{96DAC541-7B7A-43D3-8B79-37D633B846F1}">
                <asvg:svgBlip xmlns:asvg="http://schemas.microsoft.com/office/drawing/2016/SVG/main" r:embed="R041d8c49be324b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7750" y="26670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BA2CB8-52F3-4466-B6B1-1845D517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E0F184-85C9-4D51-B645-B4A616E0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python src/main.py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摄取 / 建库 / 提问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C40423-F60A-480B-99B2-F27F96D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81250"/>
            <a:ext cx="2038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e144151694bd4">
            <a:extLst>
              <a:ext uri="{96DAC541-7B7A-43D3-8B79-37D633B846F1}">
                <asvg:svgBlip xmlns:asvg="http://schemas.microsoft.com/office/drawing/2016/SVG/main" r:embed="R48595896a89342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67100" y="26670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C07A4B-CCC7-4EE5-8484-5D2FC42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004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Streamlit Web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531DFA-178B-403F-9721-DFDBDB99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7665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多轮问答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调试模式 / 数据管理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12C43F-061D-47C5-BBC0-78975BFE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381250"/>
            <a:ext cx="2038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0ff53d89d4443">
            <a:extLst>
              <a:ext uri="{96DAC541-7B7A-43D3-8B79-37D633B846F1}">
                <asvg:svgBlip xmlns:asvg="http://schemas.microsoft.com/office/drawing/2016/SVG/main" r:embed="Rec07212eef31427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86450" y="26670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647AFF-EC1B-423C-AA5D-6642393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004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Notebook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5D659B-4E41-40A7-B603-AB8F83EB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67665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pipeline_demo.ipynb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从依赖到评估的课堂演示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BDBAE2-33C8-496F-9B91-1E0B679A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038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A9A2F6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32fa2ff7e432a">
            <a:extLst>
              <a:ext uri="{96DAC541-7B7A-43D3-8B79-37D633B846F1}">
                <asvg:svgBlip xmlns:asvg="http://schemas.microsoft.com/office/drawing/2016/SVG/main" r:embed="R919b2cb2322f4b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05800" y="26670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1838F1-E5C1-4FEF-89DD-44DAECB5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004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00DB76-9B37-4A4A-85E3-66391518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report_ieee.pdf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工程设计文档与答辩材料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9F36EC-F9E0-42C6-9270-5B16D7C4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292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910FA5-07EE-489A-9B47-10BAE6DC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8160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演示策略：先用 Notebook 证明管线可复现，再用 Web/CLI 证明系统可交互，最后用报告与测试证明工程完整性。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088E7C-7251-469A-A8EB-7478B83E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CCA427-E444-4863-8B56-C0C5EC78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2716975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D1EF88-076F-4E1A-A366-39D17F3B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6302FC-392E-4BFF-AC64-360E1174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D0AA2-5D04-47D5-BA89-7D9B26DC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0E02C-DB85-49F7-BA72-9A8E5205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C8271-B411-499F-A2BD-E2DAC356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6E3D2-F8EE-4471-888F-72D64662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96A4A-7F33-4305-AF3E-A0E48347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925C3-5E0A-454E-A43F-7A72F05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CB6428-273E-48E4-B14E-DA28B6BF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E5B42-94F0-4560-A885-2688C60F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CFCC8-82D1-4AED-BEBD-6B799A7B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D367C-070F-446D-BFEE-C0B5D7B5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010277-0AC4-4637-8772-A8925540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8FE28-9C1B-4CA4-B346-D2E420BB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15CD03-335A-46F4-9B19-04EB299A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3E525-3072-4374-BAEA-0D549934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CA7678-8D1D-42A8-ADE1-035EA2C1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评估结果：能召回、会拒答、可量化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039BA1-774D-4B53-8EE2-079646B6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用 50 条查询覆盖课程信息、技术概念、元数据过滤与边界问题。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F5B22C-5605-4602-BA00-7E86FC3C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EA1E67-7968-4F97-861B-95414D85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EFE7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4EFE7"/>
                </a:solidFill>
                <a:latin typeface="Segoe UI"/>
                <a:ea typeface="Segoe UI"/>
                <a:cs typeface="Segoe UI"/>
              </a:rPr>
              <a:t>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78510E-7ED7-4CA1-BC2F-DF738657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总评估查询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C526D8-51F8-4F01-8774-89E2AB16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4790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8D257A-8ED2-4C95-AD77-6333E2A5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0030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41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200853-4CBE-4BC5-9F04-0E2B3590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4800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领域内查询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DCD894-2FA9-41B6-AA2F-65A9BD24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4790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7210-AF9E-4993-BC06-DD9F79E0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0030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ED8A3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8ED8A3"/>
                </a:solidFill>
                <a:latin typeface="Segoe UI"/>
                <a:ea typeface="Segoe UI"/>
                <a:cs typeface="Segoe UI"/>
              </a:rPr>
              <a:t>36/41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A9965A-DFED-4AC4-9FF4-596388EA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领域内 Top-3 命中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FFB204-9B8F-4B3B-9A46-2A519EDE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4790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03148D-3287-4EC1-95DF-090F12FE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0030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10A682-0177-42FF-B6F9-60EB3452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4800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领域外边界题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6D776A-7E64-49D9-98DB-CCB108F2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4286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F3B098-9F09-427F-A604-AD497772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核心指标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1BA6B5-091E-4A7A-9F37-BDFE093A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Recall@3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39E4E5-084A-436F-8B1E-C0D33EE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28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25B31A-E605-4908-9A98-F21CE13B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710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D8A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AA4BC8-0CF1-4136-9DED-572C5B10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57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EFE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EFE7"/>
                </a:solidFill>
                <a:latin typeface="Segoe UI"/>
                <a:ea typeface="Segoe UI"/>
                <a:cs typeface="Segoe UI"/>
              </a:rPr>
              <a:t>87.8%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620471-FFEF-46C4-BF3A-6E7DB4D0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76700"/>
            <a:ext cx="4286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810F9E-CC10-473B-BD9A-866E4A80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243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边界指标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4EAEB4-4910-4DF1-B7E2-C9FB3158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291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Out-of-scope accuracy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FE48E6-4E18-4B93-B8D1-AD6FC13D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76800"/>
            <a:ext cx="228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E0246A-8F7C-4746-A4D2-EED7FCD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76800"/>
            <a:ext cx="127010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F1BF46-7D8A-4110-855C-F0F91FBE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57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EFE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EFE7"/>
                </a:solidFill>
                <a:latin typeface="Segoe UI"/>
                <a:ea typeface="Segoe UI"/>
                <a:cs typeface="Segoe UI"/>
              </a:rPr>
              <a:t>55.56%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8CA502-9FAE-4C04-B763-AA2EDAEC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rPr>
              <a:t>评估含义：系统在领域内召回稳定，但领域外拒答仍是下一步优化重点。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378D38-64F2-4C8A-AAFE-936F9CCB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76BEA9-5FCB-4851-AA71-F470E0F1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202874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BA22DF-57B8-4517-A240-DDC1A8F2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FFFB3-24D6-4453-A1C9-BB342AE2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87B6A-D5FC-4834-A0DE-8037F875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08F99-9F29-4B53-954E-A7297159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86A3F-C290-48BE-B7BC-B39B6FD4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4F6419-2463-4560-BEAF-3644F537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195D37-BEAF-4DCE-A521-BF99C8AF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50370-48B2-4ABD-9F8E-EB5B809E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03395-1DCB-48B3-8F94-92D17D0F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D59FF0-D21F-4E18-913F-661CE9A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EA548A-0258-45B0-8B47-85A06632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15C5E-9A57-4C91-9BC4-D7D9CD54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3CAD7-7388-4A38-98E0-1B7E8907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BCEAC-AB34-4624-9B5C-0B6E2663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EBD6B-5B05-4D12-9C10-B02A9DA8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BD89A-9026-45AB-8E84-F53EE2C0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LATENCY &amp; COST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78010-C38C-484F-9D7B-CBE5C556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成本与性能：够轻、可跑、瓶颈清楚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AAA23C-1E12-4DE5-A284-F4B9911A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报告成本估算与延迟基准共同说明：系统可以交付，同时知道下一步该优化哪里。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6AD181-5CD9-4F21-BE33-73F8478E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286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650AD6-98E5-4BF4-B639-C5FFF5DB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43150"/>
            <a:ext cx="1943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8ED8A3"/>
                </a:solidFill>
                <a:latin typeface="Segoe UI"/>
                <a:ea typeface="Segoe UI"/>
                <a:cs typeface="Segoe UI"/>
              </a:defRPr>
            </a:pPr>
            <a:r>
              <a:rPr sz="2850" b="1">
                <a:solidFill>
                  <a:srgbClr val="8ED8A3"/>
                </a:solidFill>
                <a:latin typeface="Segoe UI"/>
                <a:ea typeface="Segoe UI"/>
                <a:cs typeface="Segoe UI"/>
              </a:rPr>
              <a:t>¥5.58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98A0C8-9491-426B-A0F3-1FC4A87B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2895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报告口径构建成本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0C8971-A665-481C-90C8-0ACFAE95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90750"/>
            <a:ext cx="2286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9A33A9-1F23-4A97-B0E7-A1903732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43150"/>
            <a:ext cx="1943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5.637s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838C0F-BE03-4680-A8E3-048C7EC6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2895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评估集平均响应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C978F9-5F38-4EB8-95FD-A5A1E49A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90750"/>
            <a:ext cx="2286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30BEDC-C8EA-49BE-9A55-96AF43EA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1943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8.824s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AEF97E-6CB5-48A3-8F3F-BDFB598D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2895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独立延迟基准总耗时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2F7E72-712C-43AD-9A85-BBF4C218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190750"/>
            <a:ext cx="2286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6FB69F-E3C5-4C57-9EF4-5D34DB92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43150"/>
            <a:ext cx="1943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F7B7B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EF7B7B"/>
                </a:solidFill>
                <a:latin typeface="Segoe UI"/>
                <a:ea typeface="Segoe UI"/>
                <a:cs typeface="Segoe UI"/>
              </a:rPr>
              <a:t>search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0098F6-DBA3-40AF-BDAF-89730002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基准瓶颈阶段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BA4088-8231-4A36-9F4D-FD5B8A6D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14800"/>
            <a:ext cx="77152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26F500-F5FA-4DC1-B12A-D12CADB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434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延迟拆解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9BE137-EB6A-4853-A51F-15FDAA7C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291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parse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F0D7F-81A3-49D4-9DCB-BBBD69A7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143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B4D307-C6AE-4CB5-A761-50845EF1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82392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D9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B8F802-B66E-4268-BF5B-8F0FE2C1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577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EFE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EFE7"/>
                </a:solidFill>
                <a:latin typeface="Segoe UI"/>
                <a:ea typeface="Segoe UI"/>
                <a:cs typeface="Segoe UI"/>
              </a:rPr>
              <a:t>2.313s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235279-1A06-4D79-9AFF-60A53D0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101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826A47-ACC5-4493-B490-47339345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3143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380CAF-48DB-4C8A-9918-95D45B87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122182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274395-A046-4C87-9677-856B2EC0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2387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EFE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EFE7"/>
                </a:solidFill>
                <a:latin typeface="Segoe UI"/>
                <a:ea typeface="Segoe UI"/>
                <a:cs typeface="Segoe UI"/>
              </a:rPr>
              <a:t>3.430s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1E69B2-A862-41DA-9FC8-6D0D55D9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generate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ACD250-A69A-4CC2-8C21-3AD53898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38800"/>
            <a:ext cx="3143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20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72BB92-6162-445B-9085-ADF56C5B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38800"/>
            <a:ext cx="109750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2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6C5A2E-2CD0-43DD-8A4F-1E4A3FC5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6197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EFE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4EFE7"/>
                </a:solidFill>
                <a:latin typeface="Segoe UI"/>
                <a:ea typeface="Segoe UI"/>
                <a:cs typeface="Segoe UI"/>
              </a:rPr>
              <a:t>3.081s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468A41-AC1D-430B-96F2-73096A00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14800"/>
            <a:ext cx="18288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0E5994-0BFB-46A4-B42C-A83D4B9A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386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优化方向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6E968C-F93B-4EC2-92EB-9CBA56B7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819650"/>
            <a:ext cx="1314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缓存解析</a:t>
            </a:r>
          </a:p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收紧阈值</a:t>
            </a:r>
          </a:p>
          <a:p xmlns:a="http://schemas.openxmlformats.org/drawingml/2006/main">
            <a:pPr algn="l">
              <a:def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索引裁剪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2CC9B8-F69B-47E1-AC4F-C25FEC78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90D801-F71C-4847-9B4C-3F582D29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382071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CB5E4E-2CC2-4C8D-8348-1006FF8D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06C3E3-44AC-4051-BEBB-7DEBA4F9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49FFA-42A8-4F19-BA9B-85F7924B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A52E9-6BAF-492E-B471-36EC3410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61F9B-74C2-458A-8810-23EE6604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EACC7-BA43-407C-A10B-BE174982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80D485-C1CC-43DB-AB45-A02D021D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269884-7899-4EA8-9C83-48C2F6BB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A0C1F-6956-4211-8C58-7BF88329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BD028-B51B-4927-BEA1-146F1E64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E5F4D-10B0-4C66-BA7F-5DD5E5EB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9F7802-0A6F-4396-BCBB-F4AC37C7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C3ECF-F144-4A63-A45B-5EE94613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0C13F2-7E7E-42DB-B287-A2160FFC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11F2E-562F-4315-9F68-3B202715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A1476-E1A8-4261-8AB5-B3720D52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ENGINEERING QUALITY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B2CD7-A838-425F-A115-15694D68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工程质量：不是一次性 demo，而是可维护项目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1585A-5C5B-4E28-B102-BBE195DE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最后提交前已重新跑全量测试，代码结构也按模块边界组织。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7F6E2E-CF39-4936-88C8-D42DE628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561911-6D5E-4A60-90F8-2CC25E9D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152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ED8A3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8ED8A3"/>
                </a:solidFill>
                <a:latin typeface="Segoe UI"/>
                <a:ea typeface="Segoe UI"/>
                <a:cs typeface="Segoe UI"/>
              </a:rPr>
              <a:t>91 passed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54C0C-9FE6-4A45-A500-C2398A04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python -m pytest tests/ -q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85875-6955-48F8-B60E-B4DC5881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4790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FC4437-E58C-49F7-B160-E9311DA4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2152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模块化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491B3D-F8E7-4124-851D-C8923A0C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051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main 只编排；业务在 src/*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74A07D-2510-43F8-A0AA-7F30796A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3851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6521AD-05C4-448B-B471-931BE481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00300"/>
            <a:ext cx="2152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UTF-8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0B8F94-51C6-4527-9CEC-DF5472EC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EABB8"/>
                </a:solidFill>
                <a:latin typeface="Microsoft YaHei"/>
                <a:ea typeface="Microsoft YaHei"/>
                <a:cs typeface="Microsoft YaHei"/>
              </a:rPr>
              <a:t>Notebook 文字已修复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2C49AB-6E9C-4E17-A599-A3FCB64D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2628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EFB250-FB68-4656-B337-56E7E371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1005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配置与路径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845D7A-EC4F-4FE7-824E-294C9346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2209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.env.example 同步配置项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Path 推导项目目录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避免硬编码本机路径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E60FD5-D112-4452-888C-E5AB2B7B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38600"/>
            <a:ext cx="2628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D0879B-ED3D-4982-ABFF-309E0588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21005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ED8A3"/>
                </a:solidFill>
                <a:latin typeface="Microsoft YaHei"/>
                <a:ea typeface="Microsoft YaHei"/>
                <a:cs typeface="Microsoft YaHei"/>
              </a:rPr>
              <a:t>测试策略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B347E2-8BA0-45F1-80CC-D302811F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52950"/>
            <a:ext cx="2209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公开函数正常路径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回退路径与集成链路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mock 外部 API 降低成本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C12D0E-08FE-4438-8DF2-6BECD142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38600"/>
            <a:ext cx="2628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C2B"/>
          </a:solidFill>
          <a:ln xmlns:a="http://schemas.openxmlformats.org/drawingml/2006/main" w="9525">
            <a:solidFill>
              <a:srgbClr val="2B3B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A36B88-4E61-42D6-B0D6-EC2E0EBD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B66D"/>
                </a:solidFill>
                <a:latin typeface="Microsoft YaHei"/>
                <a:ea typeface="Microsoft YaHei"/>
                <a:cs typeface="Microsoft YaHei"/>
              </a:rPr>
              <a:t>答辩材料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DD0132-A56D-4481-9DAB-B2753D3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552950"/>
            <a:ext cx="2209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报告 PDF / HTML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Notebook 演示</a:t>
            </a:r>
          </a:p>
          <a:p xmlns:a="http://schemas.openxmlformats.org/drawingml/2006/main">
            <a:pPr algn="l">
              <a:def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答辩 Q&amp;A 与分工材料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AAA6B8-6370-4E73-AB18-0AB44C05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Big Data RAG Project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D6B377-EFCC-46F4-801D-F6CBFA02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2965626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5386B4-8D71-46B1-AE58-B84E29BE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4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CAB0A-B950-45AA-B322-E75332F2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A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B105C-A94F-411C-BDC3-403855EB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7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9C8DF-F39B-4A33-B204-46B92659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6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B5A21-FBCA-4C59-B235-7875D668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E3441-B872-48F1-983D-D6B37C95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B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41345A-03D3-41F9-8FD3-70041E7A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90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1D72F-3B84-41FC-B3B7-C3BB7880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429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D675A-A2E1-42AA-B1C4-986C1FF9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53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90B53-B8E5-4D75-95C2-FADD0756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76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715FE-6E0B-450E-B220-271A10D4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00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BEE1C-B1E7-44B0-8033-967DED0D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5242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9F0E0-013E-4CA4-BC84-4D823BA2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0480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D8DFF-E3F0-4CB0-9404-D43D9EDC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175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59EFD9-99D0-4024-9327-2A5C2082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095500"/>
            <a:ext cx="285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6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F8C511-498B-4AE3-8FF6-B8B0DC4C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7D9E8"/>
                </a:solidFill>
                <a:latin typeface="Microsoft YaHei"/>
                <a:ea typeface="Microsoft YaHei"/>
                <a:cs typeface="Microsoft YaHei"/>
              </a:rPr>
              <a:t>DEMO ROUTE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2DA8D3-560F-42C2-88CA-B1A7F66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最终演示路线：10 分钟讲清完整闭环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76156E-2D45-45DB-A145-82BE4FBC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把老师最关心的“能不能跑、怎么做的、效果如何、哪里不足”一次讲透。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815967-BF6A-41ED-AFB4-8EB762E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8D9B36-8C63-4273-9048-79CE262E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812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1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3DBE1-37E7-47BB-9FCB-D47D0FC9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3431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开场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9E3177-C195-40E6-B673-DE7E4B45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717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问题场景 + 项目定义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ACCFF6-0548-4383-9D2A-2F580AE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432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21139A-8561-420F-B2D7-A7BA0649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86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1966E-3E5D-422B-901D-6B744A39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E478A1-8F51-4938-91C4-76D454BB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670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2 min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47D7A-CAC3-4176-A733-05B2D93C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289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095689-C0BC-41EC-AF26-2DE7AC67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575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展示摄取、分块、检索与生成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0F6817-71E7-48FE-A188-AAFC618B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290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2DAF79-D525-4C8A-A119-CB5F9EA8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71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37124A-B124-4D5F-A29F-16A3154F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8ED8A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5D23A9-2914-4260-9B03-AC3C2C26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528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8ED8A3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8ED8A3"/>
                </a:solidFill>
                <a:latin typeface="Segoe UI"/>
                <a:ea typeface="Segoe UI"/>
                <a:cs typeface="Segoe UI"/>
              </a:rPr>
              <a:t>3 min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1A05A4-3D56-44D7-8D23-B6F118A7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Web/CLI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30541E-F942-4DE7-BFE0-C63985E0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433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现场问答、来源、过滤与拒答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872FC6-2D07-4E49-91FC-9A4495D6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871E54-97B1-43A3-A69E-62F5CB08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57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1385EE-8B92-4BD6-A8CD-610A8FDA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24350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A9A2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EA9C2C-8FD5-410E-A995-79A62C91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386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9A2F6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A9A2F6"/>
                </a:solidFill>
                <a:latin typeface="Segoe UI"/>
                <a:ea typeface="Segoe UI"/>
                <a:cs typeface="Segoe UI"/>
              </a:rPr>
              <a:t>2 min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8FB0D1-2B4A-4CD8-A8F3-E4F95DFD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005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489A0E-B1C1-4DF0-9BB2-DAA6A26B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4291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解释模块边界与关键取舍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73600B-6809-412A-9364-D2ADA09C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006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862B23-A2A6-4ACA-90FA-8358BF6D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51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F7D571-AB3F-4B30-BA85-C2A209EB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F2B66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5BFC87-3A57-41B1-A300-981FF71A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2B66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B66D"/>
                </a:solidFill>
                <a:latin typeface="Segoe UI"/>
                <a:ea typeface="Segoe UI"/>
                <a:cs typeface="Segoe UI"/>
              </a:rPr>
              <a:t>2 min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89B5A4-98A1-436D-99B5-D81A29B0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863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19C790-7DB9-43F7-97AD-D60B8124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149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评估、测试、成本、风险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DC5661-F5F2-499E-AA75-C4B7891B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43150"/>
            <a:ext cx="24765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A"/>
          </a:solidFill>
          <a:ln xmlns:a="http://schemas.openxmlformats.org/drawingml/2006/main" w="9525">
            <a:solidFill>
              <a:srgbClr val="67D9E8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e457d078c46cc">
            <a:extLst>
              <a:ext uri="{96DAC541-7B7A-43D3-8B79-37D633B846F1}">
                <asvg:svgBlip xmlns:asvg="http://schemas.microsoft.com/office/drawing/2016/SVG/main" r:embed="Rb4885f6eecce4e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534400" y="2686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82B882A-C4A7-43E5-893C-E7651F0C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4EFE7"/>
                </a:solidFill>
                <a:latin typeface="Microsoft YaHei"/>
                <a:ea typeface="Microsoft YaHei"/>
                <a:cs typeface="Microsoft YaHei"/>
              </a:rPr>
              <a:t>收束句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F460C3B-F571-406F-8264-5DA0E0F5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695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9D2D9"/>
                </a:solidFill>
                <a:latin typeface="Microsoft YaHei"/>
                <a:ea typeface="Microsoft YaHei"/>
                <a:cs typeface="Microsoft YaHei"/>
              </a:rPr>
              <a:t>这是一个从数据工程到智能问答的完整闭环：可运行、可追溯、可评估，也知道下一步如何优化。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C80E9C-CD27-45A7-8ACE-DCE26162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7E8D"/>
                </a:solidFill>
                <a:latin typeface="Microsoft YaHei"/>
                <a:ea typeface="Microsoft YaHei"/>
                <a:cs typeface="Microsoft YaHei"/>
              </a:rPr>
              <a:t>Ready for final demo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E5DDC9-1A84-4762-962C-B43B14E2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62700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7D9E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67D9E8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380566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2026-06-13T04:35:23.5360000Z</dcterms:created>
  <dcterms:modified xsi:type="dcterms:W3CDTF">2026-06-13T04:35:23.5360000Z</dcterms:modified>
</coreProperties>
</file>