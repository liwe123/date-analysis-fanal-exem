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657600" cy="36576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5486400"/>
            <a:ext cx="2286000" cy="22860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194560"/>
            <a:ext cx="12191695" cy="2560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2194560"/>
            <a:ext cx="54864" cy="2560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Big Data Semester Project - Plan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Microsoft YaHei"/>
              </a:defRPr>
            </a:pPr>
            <a:r>
              <a:t>RAG Retrieval-Augmented Generation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ChromaDB  |  DeepSeek V4  |  Qwen3-Embedding  |  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2025-2026  |  Team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32588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Background &amp; Objectives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286000"/>
            <a:ext cx="457200" cy="457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Data Pipeline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2062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Retrieval &amp; Generation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51663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212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Code Quality &amp; Testing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325880"/>
            <a:ext cx="457200" cy="4572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Project Statistics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2286000"/>
            <a:ext cx="457200" cy="457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Innovation Highlights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2461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Limitations &amp; Future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2062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Microsoft YaHei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1. Background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Knowledge scattered across unstructured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Keyword search misses semantic 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Teams repeatedly answer same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Slow onboarding, tribal knowledge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0" y="15544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5727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♭  Build a full RAG Q&amp;A system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♭  Auto pipeline: doc to vector to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♭  Hybrid semantic + metadata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♭  Source-tracked hallucination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♭  CLI terminal + Streamlit Web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7-layer pipeline: raw documents to intelligent Q&amp;A with source tracing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66063" y="2103120"/>
            <a:ext cx="1371600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1943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7391" y="2103120"/>
            <a:ext cx="1371600" cy="118872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3271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8719" y="2103120"/>
            <a:ext cx="137160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4599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0047" y="2103120"/>
            <a:ext cx="1371600" cy="1188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ChromaDB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1375" y="2103120"/>
            <a:ext cx="13716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7255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2703" y="2103120"/>
            <a:ext cx="137160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Hybrid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8583" y="25146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54031" y="2103120"/>
            <a:ext cx="13716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Input: data/raw/ - 98 docs (46 course + 52 Wikipedia)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Output: CLI  |  Streamlit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Flow: Load -&gt; Clean/Chunk -&gt; LLM Metadata -&gt; Qwen3 Embed -&gt; ChromaDB -&gt; Parse -&gt; Hybrid Search -&gt; DeepSeek Generate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Ingestion &amp; Corpus Collection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Document Loading (ingest.py)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Support: .md / .txt / .pdf (PyMuPDF)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Recursive dir traversal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YAML Front-Matter parsing (nested)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Returns: source / path / text / fm_meta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UTF-8 fault-tolerant reading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8A8A"/>
                </a:solidFill>
                <a:latin typeface="Microsoft YaHei"/>
              </a:defRPr>
            </a:pPr>
            <a:r>
              <a:t>Corpus Collection (collect_corpus.py)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Wikipedia REST API v1, 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58 topics -&gt; 52 collected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Chinese first, English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Rate limit: 2s interval, 3 retries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429 auto-wait, 404 skip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Output: Markdown with Front-Matter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 Text Cleaning &amp; Semantic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Text Cleaning Pipeline (clean_text)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Step 1: Remove HTML tags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Regex &lt;[^&gt;]+&gt; -&gt; 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Step 2: Decode HTML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77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&amp;amp; -&gt; &amp;, &amp;lt; -&gt; &lt;, &amp;nbsp; -&gt; 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Step 3: Filter control chars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Keep \n, \t, remove non-printable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105156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Step 4: Normalize whitespace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Merge spaces, compress 3+ newlines to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8A8A"/>
                </a:solidFill>
                <a:latin typeface="Microsoft YaHei"/>
              </a:defRPr>
            </a:pPr>
            <a:r>
              <a:t>Semantic Chunking 4-Level Priority (chunk_text)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Level 1: Paragraph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Split by blank lines, preserve semantics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Level 2: Sentence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Split at . ! ? keep sentences intact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120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Level 3: Greedy merge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Merge to chunk_size=700 chars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69280"/>
            <a:ext cx="36576" cy="36576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8A8A"/>
                </a:solidFill>
                <a:latin typeface="Microsoft YaHei"/>
              </a:defRPr>
            </a:pPr>
            <a:r>
              <a:t>Level 4: Sliding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Overlong: step = chunk_size - overlap (120)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 LLM Metadata Extraction &amp; JSON Safety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LLM Metadata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Send first 1200 chars to DeepSeek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Returns JSON: author/year/category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  /language/summary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Front-Matter overrides LLM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Fail -&gt; filename prefix guess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  wiki_ -&gt; wiki, notice -&gt;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98 docs cost &lt; $0.07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JSON Safety Parser (_safe_json_parse)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LLM format issues never break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Layer 1: Standard json.loads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Layer 2: Truncate to complete {}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Layer 3: Remove comments &amp; trailing commas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Layer 4: Regex per-field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Ensures 100% build reliability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Merge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Front-Matter (manual) &gt; LLM extraction &gt; Filename fallback -&gt; ChromaDB metadata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Retrieval &amp;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Vector Storage &amp; Hybrid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Vector Store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DB: ChromaDB, local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Distance: Cosine (0=same, 2=opposite)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Index: HNSW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Write: batch upsert, batch=64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Local/remote dual embedding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Storage: vector_store/ dir, zero 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3035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Hybrid Search 3 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1. Pure semantic: Top-K by vector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2. Semantic + Where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   filter by year/category/author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3. Max-Distance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   only results below distance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   tuneable in Streamlit real-time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Where filter fails -&gt; auto-remove -&gt; pure semantic search -&gt; users never see blank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Local Embedding Model (GPU Accelerated)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Qwen3-Embedding-0.6B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0.6B params, 1024-dim output, 32K context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Chinese MTEB 66.33 (best-in-class), MRL variable dims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Auto CUDA detection: PyTorch device=cuda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Encodes 130+ chunks in 10-20s (GPU), zero API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▸  Swappable via LOCAL_EMBEDDING_MODEL env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Dual Mode Switching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256032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4389120"/>
            <a:ext cx="228600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4389120"/>
            <a:ext cx="164592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389120"/>
            <a:ext cx="164592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4389120"/>
            <a:ext cx="1828800" cy="41148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34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Speed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25603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92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Local (active)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4846320"/>
            <a:ext cx="22860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Qwen3-Embedding-0.6B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846320"/>
            <a:ext cx="16459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846320"/>
            <a:ext cx="16459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$0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846320"/>
            <a:ext cx="182880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GPU 10-20s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25780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303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Remote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5257800"/>
            <a:ext cx="2286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530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text-embedding-3-small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525780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303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1536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5257800"/>
            <a:ext cx="1645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5303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~$0.001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525780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API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Query Intent Parsing (query_parser.py)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Natural language to structured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Users ask naturally -- LLM decomposes question into search terms + filters.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User: How was the final exam in 2025?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-&gt; Parse: {"search_query": "final exam format", "filters": {"year": 2025, "category": "notice"}}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User: What did 2024 notices say?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-&gt; Parse: {"search_query": "notices", "filters": {"year": 2024, "category": "notice"}}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User: What is a vector database?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-&gt; Parse: {"search_query": "vector database", "filters": null}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1069848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4864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User: Case studies by Alice?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-&gt; Parse: {"search_query": "case study", "filters": {"author": "Alice"}}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Fallback: JSON parse error or API failure -&gt; use raw question as search query -&gt; system never hangs.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 Answer Generation &amp; Hallucination Prevention (qa.py)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5727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System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LLM instructed: answer only from</a:t>
            </a:r>
            <a:br/>
            <a:r>
              <a:t>provided references, say unknown</a:t>
            </a:r>
            <a:br/>
            <a:r>
              <a:t>if not found.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4747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5727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Context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Only retrieved content fed to LLM.</a:t>
            </a:r>
            <a:br/>
            <a:r>
              <a:t>No room for fabrication.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474720" cy="2926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157276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Citation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Backend auto-checks [Source: xxx]</a:t>
            </a:r>
            <a:br/>
            <a:r>
              <a:t>in answer. Appends if missing</a:t>
            </a:r>
            <a:br/>
            <a:r>
              <a:t>(dedup, sorted).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F"/>
                </a:solidFill>
                <a:latin typeface="Microsoft YaHei"/>
              </a:defRPr>
            </a:pPr>
            <a:r>
              <a:t>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530352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Microsoft YaHei"/>
              </a:defRPr>
            </a:pPr>
            <a:r>
              <a:t>Known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"What is the submission deadline?"</a:t>
            </a:r>
            <a:br/>
            <a:r>
              <a:t>-&gt; Answer + [Source: xxx.md]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029200"/>
            <a:ext cx="530352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502920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Unknown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40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"Piano exam requirements?"</a:t>
            </a:r>
            <a:br/>
            <a:r>
              <a:t>-&gt; "No relevant information found"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5. Code Quality &amp; Engineering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Modular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src/main.py (118 lines) - CLI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src/ingest.py (104 lines) - document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src/preprocess.py (301 lines) - clean/chunk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src/embed_store.py (210 lines) - vector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src/qa.py (71 lines) - answer 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src/query_parser.py (113 lines) - parse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src/collect_corpus.py (199 lines) - 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src/utils.py (79 lines) - shared utilities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03520" cy="502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8A8A"/>
                </a:solidFill>
                <a:latin typeface="Microsoft YaHei"/>
              </a:defRPr>
            </a:pPr>
            <a:r>
              <a:t>Test Coverage (45+ cases)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test_preprocess - clean/chunk/classify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test_ingest - Front-Matter/file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test_query_parser - normal/error/fallback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test_embed_store - search/filter/safe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test_qa - empty docs/context/citation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46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test_integration - full pipeline e2e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947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Every public function has happy + fallback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669280"/>
            <a:ext cx="5486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Microsoft YaHei"/>
              </a:defRPr>
            </a:pPr>
            <a:r>
              <a:t>Engineering Standards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Type annotations  |  Single dependency direction  |  Explicit init_env  |  OpenAI singleton  |  Error: validate -&gt; fallback -&gt; 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6. Project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Data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Course 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011680"/>
            <a:ext cx="36576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Wikipedia articles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514600"/>
            <a:ext cx="36576" cy="32004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8A8A"/>
                </a:solidFill>
                <a:latin typeface="Microsoft YaHei"/>
              </a:defRPr>
            </a:pPr>
            <a:r>
              <a:t>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Total 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017520"/>
            <a:ext cx="36576" cy="32004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233F"/>
                </a:solidFill>
                <a:latin typeface="Microsoft YaHei"/>
              </a:defRPr>
            </a:pPr>
            <a:r>
              <a:t>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520440"/>
            <a:ext cx="36576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7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Text chunks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023360"/>
            <a:ext cx="36576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~130-150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3035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Microsoft YaHei"/>
              </a:defRPr>
            </a:pPr>
            <a:r>
              <a:t>API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Metadata (98x DeepSeek V4)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~$0.04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Query parse (per query)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~$0.001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Answer gen (per query)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~$0.001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Embedding (local GPU)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Total build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D233F"/>
                </a:solidFill>
                <a:latin typeface="Microsoft YaHei"/>
              </a:defRPr>
            </a:pPr>
            <a:r>
              <a:t>&lt; $0.07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Per-query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~$0.001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86400"/>
            <a:ext cx="1645920" cy="7315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Docs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5486400"/>
            <a:ext cx="1645920" cy="73152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130+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Chunks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5486400"/>
            <a:ext cx="16459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&lt;$0.07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Cost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309360"/>
            <a:ext cx="1645920" cy="7315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720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Dim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6309360"/>
            <a:ext cx="16459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6720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Types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6309360"/>
            <a:ext cx="164592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6400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45+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6720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7. Innovation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" cy="1463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Query Intent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LLM converts natural language to</a:t>
            </a:r>
            <a:br/>
            <a:r>
              <a:t>structured search params automatically.</a:t>
            </a:r>
            <a:br/>
            <a:r>
              <a:t>Users dont need to learn query syntax.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" cy="1463040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8A8A"/>
                </a:solidFill>
                <a:latin typeface="Microsoft YaHei"/>
              </a:defRPr>
            </a:pPr>
            <a:r>
              <a:t>Multi-Layer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Parse fail -&gt; full-text search.</a:t>
            </a:r>
            <a:br/>
            <a:r>
              <a:t>Where fail -&gt; pure semantic.</a:t>
            </a:r>
            <a:br/>
            <a:r>
              <a:t>JSON fail -&gt; regex. System always works.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Microsoft YaHei"/>
              </a:defRPr>
            </a:pPr>
            <a:r>
              <a:t>Front-Matter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Manual YAML annotations override</a:t>
            </a:r>
            <a:br/>
            <a:r>
              <a:t>LLM extraction. Respects human</a:t>
            </a:r>
            <a:br/>
            <a:r>
              <a:t>curated metadata accuracy.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4864" cy="1463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D6A0"/>
                </a:solidFill>
                <a:latin typeface="Microsoft YaHei"/>
              </a:defRPr>
            </a:pPr>
            <a:r>
              <a:t>Citation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20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System prompt constraint + backend</a:t>
            </a:r>
            <a:br/>
            <a:r>
              <a:t>check. Auto-appends Source list if</a:t>
            </a:r>
            <a:br/>
            <a:r>
              <a:t>LLM omits citations. 100% traceable.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Microsoft YaHei"/>
              </a:defRPr>
            </a:pPr>
            <a:r>
              <a:t>GPU Local Embedding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Qwen3-Embedding auto CUDA.</a:t>
            </a:r>
            <a:br/>
            <a:r>
              <a:t>20x speedup, zero API fees.</a:t>
            </a:r>
            <a:br/>
            <a:r>
              <a:t>Swappable via env variable.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63440"/>
            <a:ext cx="539496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6344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Microsoft YaHei"/>
              </a:defRPr>
            </a:pPr>
            <a:r>
              <a:t>Safe 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delete_collection(confirm=True)</a:t>
            </a:r>
            <a:br/>
            <a:r>
              <a:t>requires explicit confirmation.</a:t>
            </a:r>
            <a:br/>
            <a:r>
              <a:t>Prevents accidental data loss.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7. Technology Choices &amp;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92024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71600"/>
            <a:ext cx="210312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Choice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210312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Alternatives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71600"/>
            <a:ext cx="3657600" cy="4572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Rationale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92024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90195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Vector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82880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19019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ChromaDB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82880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19019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Milvus / Qdrant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828800"/>
            <a:ext cx="365760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190195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Zero config, pip install; abstraction for migration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468880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4203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Embedding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46888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254203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Qwen3-Embedding</a:t>
            </a:r>
            <a:br/>
            <a:r>
              <a:t>0.6B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46888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54203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all-MiniLM-L6-v2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4688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254203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0.6B, 1024-dim, Chinese MTEB 66.33 best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08960"/>
            <a:ext cx="192024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8211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10896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33472" y="318211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DeepSeek V4</a:t>
            </a:r>
            <a:br/>
            <a:r>
              <a:t>Flash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10896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318211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GPT-4o-mini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108960"/>
            <a:ext cx="365760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318211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$0.14/M input tokens, 1M context, great value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749040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82219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Web UI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74904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33472" y="382219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Streamlit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374904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28032" y="382219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Flask/FastAPI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7490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2592" y="382219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Pure Python, no frontend code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389120"/>
            <a:ext cx="192024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446227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ETL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438912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33472" y="446227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Python native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4389120"/>
            <a:ext cx="21031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28032" y="446227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PySpark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4389120"/>
            <a:ext cx="365760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446227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&lt;100 docs fine; switch to PySpark for &gt;10K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029200"/>
            <a:ext cx="1920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5102352"/>
            <a:ext cx="17739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233F"/>
                </a:solidFill>
                <a:latin typeface="Microsoft YaHei"/>
              </a:defRPr>
            </a:pPr>
            <a:r>
              <a:t>PDF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502920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33472" y="51023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PyMuPDF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5029200"/>
            <a:ext cx="2103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28032" y="5102352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pdfplumber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50292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22592" y="5102352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Fast C backend, good CJK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8. 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PDF text-only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533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Tables/images in PDFs lost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533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-&gt; Add table/image extraction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30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No Reranker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305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Top-K may have weak matches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305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-&gt; Add Cross-Encoder Reranker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077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No auth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07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All users share one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07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-&gt; Collection-level namespaces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1188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850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Fixed chunk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685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Same for FAQ short and report long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85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-&gt; Dynamic per-doc-type strategy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38912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62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Session-only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622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History lost on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462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-&gt; Persist via SQLite/Redis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110642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66360"/>
            <a:ext cx="54864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395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No eval 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239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Cannot quantify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39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Microsoft YaHei"/>
              </a:defRPr>
            </a:pPr>
            <a:r>
              <a:t>-&gt; Build test set + Recall@K + MRR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9. Demo &amp; Q&amp;A Prep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3840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266944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CLI Demo (3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ask --question "submission deadline"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ask --question "What is RAG"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ask --question "piano exam" (refusal)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Show query parser decomposition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3840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389888"/>
            <a:ext cx="5266944" cy="36576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8A8A"/>
                </a:solidFill>
                <a:latin typeface="Microsoft YaHei"/>
              </a:defRPr>
            </a:pPr>
            <a:r>
              <a:t>Streamlit Demo (5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Sidebar: doc count, source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Multi-turn 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Debug mode: search +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Adjust Top-K / max-distance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Expand sources to view scores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54864" cy="1371600"/>
          </a:xfrm>
          <a:prstGeom prst="rect">
            <a:avLst/>
          </a:prstGeom>
          <a:solidFill>
            <a:srgbClr val="0D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F"/>
                </a:solidFill>
                <a:latin typeface="Microsoft YaHei"/>
              </a:defRPr>
            </a:pPr>
            <a:r>
              <a:t>Q&amp;A Preparation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Q: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440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Embedding API rate limit?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4406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44068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Local GPU, fully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Q: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15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Vector DB crash recovery?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7150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71500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Backup + 5 min rebuild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Q: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989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Why ChromaDB not Milvus?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9893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989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Zero config, abstraction for migration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263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Q: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6263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1000 docs incremental update?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62636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A: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26364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Upsert dedup, future incremental index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3200400" cy="32004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2286000"/>
            <a:ext cx="7589520" cy="2286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Big Data Semester Project - Plan 2: RAG Q&amp;A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Microsoft YaHei"/>
              </a:defRPr>
            </a:pPr>
            <a:r>
              <a:t>Full docs | 45+ tests | Fully reproducible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