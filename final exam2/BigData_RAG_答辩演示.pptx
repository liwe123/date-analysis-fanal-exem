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457200" y="-457200"/>
            <a:ext cx="1828800" cy="18288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-914400"/>
            <a:ext cx="2743200" cy="2743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486400"/>
            <a:ext cx="2286000" cy="22860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194560"/>
            <a:ext cx="12191695" cy="25603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大数据学期项目计划二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Microsoft YaHei"/>
              </a:defRPr>
            </a:pPr>
            <a:r>
              <a:t>RAG 检索增强生成助手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Microsoft YaHei"/>
              </a:defRPr>
            </a:pPr>
            <a:r>
              <a:t>ChromaDB  |  DeepSeek V4  |  Qwen3-Embedding  |  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577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2025-2026 学年  |  小组答辩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1325880"/>
            <a:ext cx="457200" cy="4572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项目背景与目标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286000"/>
            <a:ext cx="457200" cy="457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系统架构总览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291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数据流水线详解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42062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检索与答案生成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51663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212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212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代码质量与测试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1325880"/>
            <a:ext cx="457200" cy="4572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371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项目运行数据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2286000"/>
            <a:ext cx="457200" cy="457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项目创新亮点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2461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91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局限与改进方向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20624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团队分工技术汇报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516636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212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212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演示与答辩准备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一、项目背景与目标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企业痛点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知识分散在各类非结构化文档中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关键词搜索无法理解语义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团队重复回答相同问题效率低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新员工上手慢知识靠口口相传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15544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5727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项目目标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构建完整 RAG 问答流水线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全链路自动化处理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108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语义检索加元数据混合搜索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带来源追溯防幻觉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CLI 加 Streamlit 双模式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二、系统架构总览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七层流水线：从原始文档到带来源追溯的智能问答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966063" y="2103120"/>
            <a:ext cx="1371600" cy="1188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数据摄取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91943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7391" y="2103120"/>
            <a:ext cx="1371600" cy="118872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文本预处理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3271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28719" y="2103120"/>
            <a:ext cx="137160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向量嵌入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4599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0047" y="2103120"/>
            <a:ext cx="137160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ChromaDB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91375" y="2103120"/>
            <a:ext cx="137160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查询解析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7255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72703" y="2103120"/>
            <a:ext cx="1371600" cy="1188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混合检索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8583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4031" y="2103120"/>
            <a:ext cx="137160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答案生成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输入：data/raw/ -&gt; 176 篇文档（45 篇课程资料 + 83 篇 Wiki + 30 篇 SO + 18 篇 CSDN）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输出：CLI 命令行  |  Streamlit Web 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</a:p>
          <a:p>
            <a:pPr algn="l">
              <a:spcBef>
                <a:spcPts val="0"/>
              </a:spcBef>
              <a:spcAft>
                <a:spcPts val="400"/>
              </a:spcAft>
              <a:defRPr sz="1200">
                <a:solidFill>
                  <a:srgbClr val="6B7280"/>
                </a:solidFill>
                <a:latin typeface="Microsoft YaHei"/>
              </a:defRPr>
            </a:pPr>
            <a:r>
              <a:t>数据流：读取 -&gt; 清洗分块 -&gt; LLM 元数据 -&gt; Qwen3 嵌入 -&gt; ChromaDB 存储 -&gt; 解析 -&gt; 混合检索 -&gt; DeepSeek 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三、数据流水线详解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文档摄取与语料自动采集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文档加载 ingest.py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支持 .md / .txt / .pdf 格式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递归遍历 data/raw/ 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解析 YAML Front-Matter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返回结构化文档对象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UTF-8 容错读取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语料采集 collect_corpus.py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多源语料库高敏捷采集与转换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Wikipedia 词条 83 篇 (Wiki REST API)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Stack Overflow 高票问答 30 篇 (译为全中文)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CSDN 技术博客 18 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多线程/速率限制 (429) 指数退避重试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统一自动转换为纯净 Markdown 存储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三、文本清洗与语义分块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文本清洗四步流水线 clean_text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第一步：移除 HTML 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正则 &lt;[^&gt;]+&gt; 替换为空格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第二步：解码 HTML 实体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377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&amp;amp; -&gt; &amp;   &amp;lt; -&gt; &lt;   &amp;nbsp; -&gt; 空格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第三步：过滤控制字符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保留换行符和制表符，移除不可打印字符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3756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83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第四步：空白规范化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3832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合并连续空格，压缩多余换行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8A8A"/>
                </a:solidFill>
                <a:latin typeface="Microsoft YaHei"/>
              </a:defRPr>
            </a:pPr>
            <a:r>
              <a:t>语义分块四层优先级 chunk_text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第一层：段落边界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按空行切分，保持段落语义完整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548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第二层：句子边界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754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按句末标点切分，保留完整句子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2120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第三层：贪心合并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212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合并到 chunk_size=700 字符，重叠 120 字符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6692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669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第四层：滑窗切割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669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超长文本以 step=chunk_size-overlap 切割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三、LLM 元数据提取与 JSON 安全解析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LLM 元数据提取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发送前 1200 字符给 DeepSeek V4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返回 JSON：作者/年份/分类/语言/摘要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Front-Matter 优先覆盖 LLM 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文件名后缀猜测兜底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176 篇文档元数据并发提取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32 线程并发提取，仅需 ~20 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JSON 安全解析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不因 LLM 格式问题中断流水线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第一层：标准 json.loads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第二层：截断到完整大括号对象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第三层：移除注释和尾随逗号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第四层：逐字段正则提取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669280"/>
            <a:ext cx="54864" cy="7315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D6A0"/>
                </a:solidFill>
                <a:latin typeface="Microsoft YaHei"/>
              </a:defRPr>
            </a:pPr>
            <a:r>
              <a:t>合并策略：Front-Matter 人工标注 &gt; LLM 提取 &gt; 文件名猜测 -&gt; 最终写入 ChromaDB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四、检索与答案生成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向量存储与混合检索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向量存储配置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数据库：ChromaDB 本地持久化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距离度量：Cosine 余弦距离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索引算法：HNSW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写入策略：批量 upsert 每次 64 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双模式嵌入：本地/远程自由切换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存储路径：vector_store/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混合检索三大能力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1. 纯语义搜索：向量相似度 Top-K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2. 语义加 Where 过滤：按年份/分类筛选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3. 最大距离阈值：过滤低质量结果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4. Where 失败自动回退纯语义搜索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669280"/>
            <a:ext cx="5486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Microsoft YaHei"/>
              </a:defRPr>
            </a:pPr>
            <a:r>
              <a:t>降级保障：Where 过滤失败 -&gt; 自动移除过滤条件 -&gt; 纯语义搜索回退 -&gt; 用户永不见空白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四、本地嵌入模型（GPU 加速）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64240" cy="2286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864" cy="228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Qwen3-Embedding-0.6B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参数量 0.6B，输出 1024 维向量，支持 32K 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中文 MTEB 66.33 同级最优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自动检测 CUDA 启用 GPU 加速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编码 450 多个文本块仅需 10-20 秒（GPU 加速）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通过环境变量可一键切换任意 HuggingFace 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双模式嵌入切换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89120"/>
            <a:ext cx="256032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389120"/>
            <a:ext cx="228600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4389120"/>
            <a:ext cx="164592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4389120"/>
            <a:ext cx="164592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0" y="4389120"/>
            <a:ext cx="182880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34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434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434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速度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846320"/>
            <a:ext cx="256032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Microsoft YaHei"/>
              </a:defRPr>
            </a:pPr>
            <a:r>
              <a:t>本地（当前）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4846320"/>
            <a:ext cx="22860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Qwen3-0.6B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4846320"/>
            <a:ext cx="164592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4892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846320"/>
            <a:ext cx="164592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4892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0 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4846320"/>
            <a:ext cx="18288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4892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GPU 10-20 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257800"/>
            <a:ext cx="25603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Microsoft YaHei"/>
              </a:defRPr>
            </a:pPr>
            <a:r>
              <a:t>远程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5257800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5303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text-embed-3-small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525780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5303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1536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525780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63840" y="5303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约 0.01 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1200" y="525780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0" y="53035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API 延迟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四、查询意图解析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将自然语言自动转为结构化搜索参数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LLM 自动将用户问题拆解为搜索词加过滤条件，用户无需学习搜索语法。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用户提问：去年期末怎么考？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"期末考试 形式", "filters": {"year": 2025, "category": "notice"}}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432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432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788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用户提问：2024 年通知讲了啥？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08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"通知", "filters": {"year": 2024, "category": "notice"}}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576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6576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03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用户提问：什么是向量数据库？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23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"向量数据库", "filters": null}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5720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用户提问：张三写的案例分析？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937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"案例分析", "filters": {"author": "张三"}}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760720"/>
            <a:ext cx="54864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降级保护：JSON 解析异常或 API 调用失败时，自动使用原问题全文搜索，系统永不卡死。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四、答案生成与防幻觉机制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74720" cy="2926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20240" y="15544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System Prompt 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LLM 被要求仅依据</a:t>
            </a:r>
            <a:br/>
            <a:r>
              <a:t>参考资料回答，找不到</a:t>
            </a:r>
            <a:br/>
            <a:r>
              <a:t>就说不知道。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474720" cy="2926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60720" y="15544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上下文隔离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只将检索结果喂给</a:t>
            </a:r>
            <a:br/>
            <a:r>
              <a:t>LLM，不给模型自我</a:t>
            </a:r>
            <a:br/>
            <a:r>
              <a:t>发挥的空间。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371600"/>
            <a:ext cx="3474720" cy="2926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15544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引用强制检查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后端自动检查答案中</a:t>
            </a:r>
            <a:br/>
            <a:r>
              <a:t>是否含 [Source:]，</a:t>
            </a:r>
            <a:br/>
            <a:r>
              <a:t>缺失则自动补全。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233F"/>
                </a:solidFill>
                <a:latin typeface="Microsoft YaHei"/>
              </a:defRPr>
            </a:pPr>
            <a:r>
              <a:t>效果验证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29200"/>
            <a:ext cx="53035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02920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20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知识库有答案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问：课程最后提交截止日期是什么？</a:t>
            </a:r>
            <a:br/>
            <a:r>
              <a:t>答：答案 + 【来源：xxx.md】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5029200"/>
            <a:ext cx="53035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5029200"/>
            <a:ext cx="54864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120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Microsoft YaHei"/>
              </a:defRPr>
            </a:pPr>
            <a:r>
              <a:t>知识库无答案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4406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问：钢琴考级需要准备什么？</a:t>
            </a:r>
            <a:br/>
            <a:r>
              <a:t>答：资料中没有相关信息。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五、代码质量与工程实践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模块化架构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main.py（118 行）- CLI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ingest.py（104 行）- 文档加载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preprocess.py（301 行）- 清洗分块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embed_store.py（210 行）- 向量存储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qa.py（71 行）- 答案生成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query_parser.py（113 行）- 查询解析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107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collect_corpus.py（199 行）- 语料采集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66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utils.py（79 行）- 工具函数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测试覆盖（68 个测试用例）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test_preprocess - 清洗/分块/元数据/异常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test_ingest - 嵌套 YAML 解析与异常退避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test_query_parser - 格式错误与降级过滤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test_embed_store - upsert/where_document 过滤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test_qa - 超长熔断/多轮会话/防幻觉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test_integration - 整体全链路冒烟测试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107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66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68 个测试用例 100% 成功通过 (Passed)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669280"/>
            <a:ext cx="54864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5CF6"/>
                </a:solidFill>
                <a:latin typeface="Microsoft YaHei"/>
              </a:defRPr>
            </a:pPr>
            <a:r>
              <a:t>工程规范：类型注解全覆盖 | 模块间单向依赖 | 显式 init_env | OpenAI 单例 | 分层错误处理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六、项目运行数据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数据规模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课程文档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011680"/>
            <a:ext cx="36576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45 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Wikipedia 词条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514600"/>
            <a:ext cx="36576" cy="32004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514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8A8A"/>
                </a:solidFill>
                <a:latin typeface="Microsoft YaHei"/>
              </a:defRPr>
            </a:pPr>
            <a:r>
              <a:t>83 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文档总数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3017520"/>
            <a:ext cx="36576" cy="32004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F"/>
                </a:solidFill>
                <a:latin typeface="Microsoft YaHei"/>
              </a:defRPr>
            </a:pPr>
            <a:r>
              <a:t>176 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文档分类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520440"/>
            <a:ext cx="36576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7 大类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处理后文本块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4023360"/>
            <a:ext cx="36576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约 450+ 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371600"/>
            <a:ext cx="530352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API 调用成本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元数据提取 176 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约 0.5 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514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查询解析每次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514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约 0.003 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答案生成每次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约 0.005 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文本嵌入（本地 GPU）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520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0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建库总成本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023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D233F"/>
                </a:solidFill>
                <a:latin typeface="Microsoft YaHei"/>
              </a:defRPr>
            </a:pPr>
            <a:r>
              <a:t>小于 0.8 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52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单次查询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约 0.01 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486400"/>
            <a:ext cx="164592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文档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68880" y="5486400"/>
            <a:ext cx="1645920" cy="73152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6888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450+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文本块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5486400"/>
            <a:ext cx="164592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&lt;0.8 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总成本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6309360"/>
            <a:ext cx="1645920" cy="7315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6400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720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68880" y="6309360"/>
            <a:ext cx="164592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68880" y="6400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7 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6720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分类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6309360"/>
            <a:ext cx="164592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0" y="6400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6720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测试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七、项目创新亮点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" cy="1463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Microsoft YaHei"/>
              </a:defRPr>
            </a:pPr>
            <a:r>
              <a:t>查询意图解析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LLM 将自然语言自动转为</a:t>
            </a:r>
            <a:br/>
            <a:r>
              <a:t>结构化搜索参数，用户无需</a:t>
            </a:r>
            <a:br/>
            <a:r>
              <a:t>学习搜索语法。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" cy="146304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8A8A"/>
                </a:solidFill>
                <a:latin typeface="Microsoft YaHei"/>
              </a:defRPr>
            </a:pPr>
            <a:r>
              <a:t>多层降级策略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解析失败 -&gt; 全文搜索</a:t>
            </a:r>
            <a:br/>
            <a:r>
              <a:t>Where 失败 -&gt; 纯语义搜索</a:t>
            </a:r>
            <a:br/>
            <a:r>
              <a:t>JSON 失败 -&gt; 正则兜底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864" cy="1463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08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  <a:latin typeface="Microsoft YaHei"/>
              </a:defRPr>
            </a:pPr>
            <a:r>
              <a:t>Front-Matter 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04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人工 YAML 标注自动覆盖</a:t>
            </a:r>
            <a:br/>
            <a:r>
              <a:t>LLM 提取结果，尊重人工</a:t>
            </a:r>
            <a:br/>
            <a:r>
              <a:t>标注准确性。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97180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971800"/>
            <a:ext cx="54864" cy="14630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D6A0"/>
                </a:solidFill>
                <a:latin typeface="Microsoft YaHei"/>
              </a:defRPr>
            </a:pPr>
            <a:r>
              <a:t>来源强制追溯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System Prompt 约束加后端</a:t>
            </a:r>
            <a:br/>
            <a:r>
              <a:t>自动检查补全，100%</a:t>
            </a:r>
            <a:br/>
            <a:r>
              <a:t>答案可核查来源。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663440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0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Microsoft YaHei"/>
              </a:defRPr>
            </a:pPr>
            <a:r>
              <a:t>GPU 加速本地嵌入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Qwen3 自动 CUDA 加速</a:t>
            </a:r>
            <a:br/>
            <a:r>
              <a:t>编码速度提升 20 倍</a:t>
            </a:r>
            <a:br/>
            <a:r>
              <a:t>零 API 费用。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66344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663440"/>
            <a:ext cx="54864" cy="1463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800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B5CF6"/>
                </a:solidFill>
                <a:latin typeface="Microsoft YaHei"/>
              </a:defRPr>
            </a:pPr>
            <a:r>
              <a:t>安全删除机制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2120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delete_collection 需显式</a:t>
            </a:r>
            <a:br/>
            <a:r>
              <a:t>确认 confirm=True，防止</a:t>
            </a:r>
            <a:br/>
            <a:r>
              <a:t>误删数据。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七、技术选型与权衡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92024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技术层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371600"/>
            <a:ext cx="210312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417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选择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210312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417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替代方案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371600"/>
            <a:ext cx="365760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选择理由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192024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90195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向量数据库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182880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3472" y="19019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ChromaDB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82880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19019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Milvus/Qdrant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1828800"/>
            <a:ext cx="365760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190195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零部署 pip install 即用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68880"/>
            <a:ext cx="19202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4203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Embedding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46888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33472" y="254203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Qwen3-0.6B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46888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254203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MiniLM-L6-v2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46888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54203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0.6B 参数 1024 维中文最优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08960"/>
            <a:ext cx="192024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1821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LLM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310896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33472" y="318211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DeepSeek V4 Flash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10896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2" y="318211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GPT-4o-mini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3108960"/>
            <a:ext cx="365760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318211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0.14 美元/百万 token 性价比高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749040"/>
            <a:ext cx="19202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382219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Web 框架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0" y="374904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33472" y="382219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Streamlit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74904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28032" y="382219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Flask/FastAPI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374904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2592" y="382219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纯 Python 零前端代码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389120"/>
            <a:ext cx="192024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446227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ETL 处理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0320" y="438912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33472" y="446227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Python 原生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438912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28032" y="446227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PySpark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4389120"/>
            <a:ext cx="365760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22592" y="446227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文档少于 100 原生 Python 足够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029200"/>
            <a:ext cx="19202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510235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PDF 解析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502920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33472" y="51023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PyMuPDF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502920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28032" y="51023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pdfplumber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502920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22592" y="510235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C 底层速度快中文支持好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八、局限与改进方向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533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PDF 仅提取文字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3533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含图表的文档信息丢失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533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解决方案：增加表格和图片提取模块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30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无 Rerank 重排序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305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Top-K 中可能含弱相关片段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305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解决方案：接入 Cross-Encoder Reranker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34640"/>
            <a:ext cx="110642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3464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077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无权限隔离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9077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所有用户共享知识库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90779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解决方案：Collection 级命名空间隔离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61188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1188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850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分块粒度固定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850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不同类型文档用同一参数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6850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解决方案：按文档类型动态调整策略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89120"/>
            <a:ext cx="110642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4622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对话不跨会话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关闭后历史丢失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4622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解决方案：接入 SQLite 或 Redis 持久化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6636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1663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395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无评测体系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2395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无法量化检索质量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395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解决方案：构建测试集加 Recall@K 和 MRR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九、团队分工与板块技术汇报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四人团队紧密协作：职责明确、模块闭环，实现工业级高敏捷交付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👑 队长（项目统筹 &amp; RAG 架构师）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顶层系统架构设计与核心流水线规制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embed_store.py: upsert 幂等与 where_document 检索优化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preprocess.py: 四级语义退避分块算法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核心技术攻坚与全链路安全降级回退机制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🧑‍💻 成员 B（数据工程师）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多源离线爬取与 HTML -&gt; MD 规范转换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32 线程并发元数据提取（ThreadPoolExecutor）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429 限流退避算法：扰动指数自适应重试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clean_text(): 标签、实体、控制符、空白四步清洗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904488"/>
            <a:ext cx="526694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🎨 成员 C（前端开发工程师）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app/style.css: 流畅毛玻璃与深色微动画重塑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45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session_state 多轮对话历史状态管理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011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调试模式折叠面板与 Top-K/阈值滑块参数联动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572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拖拽动态文档上传入库与 XSS 安全逃逸防护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8862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3904488"/>
            <a:ext cx="52669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🧪 成员 D（测试与文档工程师）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891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pytest 68 个单测与集成用例覆盖开发 (100% Passed)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645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unittest.mock.patch 离线环境深度解耦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9011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嵌套 YAML、网络中断、系统信号防吞极限边界测试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1572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report.md/README.md/演示 PPT 文稿高标准撰写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十、演示方案与答辩准备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3840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CLI 演示（3 分钟）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知识库问答：查询提交截止日期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跨文档综合：什么是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拒答演示：查询无关问题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展示查询解析过程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5303520" cy="3840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Streamlit 演示（5 分钟）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侧边栏展示文档块数和来源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连续提问展示对话历史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调试模式展示搜索词和过滤条件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调节 Top-K 和最大距离阈值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展开检索来源查看分数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029200"/>
            <a:ext cx="54864" cy="13716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233F"/>
                </a:solidFill>
                <a:latin typeface="Microsoft YaHei"/>
              </a:defRPr>
            </a:pPr>
            <a:r>
              <a:t>答辩 Q&amp;A 准备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406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Embedding API 限流怎么办？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54406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44068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本地 GPU 嵌入，完全离线不存在限流问题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向量数据库崩溃怎么恢复？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71500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71500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备份 vector_store 目录，5 分钟重建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893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9893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为什么选 ChromaDB 不是 Milvus？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59893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98932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零部署，教育场景够用；做了抽象封装可迁移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26364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6263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1000 篇文档怎么增量更新？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0" y="626364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26364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当前 upsert 去重，后续可做增量索引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731520" y="-731520"/>
            <a:ext cx="2286000" cy="2286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457200"/>
            <a:ext cx="3200400" cy="32004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2286000"/>
            <a:ext cx="7589520" cy="2286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谢谢聆听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大数据学期项目计划二 -- RAG 检索增强生成助手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Microsoft YaHei"/>
              </a:defRPr>
            </a:pPr>
            <a:r>
              <a:t>代码文档齐全  |  68 个单元测试用例  |  全流程完美复现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