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3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457200" y="-457200"/>
            <a:ext cx="1828800" cy="1828800"/>
          </a:xfrm>
          <a:prstGeom prst="ellipse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15600" y="-914400"/>
            <a:ext cx="2743200" cy="2743200"/>
          </a:xfrm>
          <a:prstGeom prst="ellipse">
            <a:avLst/>
          </a:prstGeom>
          <a:solidFill>
            <a:srgbClr val="14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657600" cy="3657600"/>
          </a:xfrm>
          <a:prstGeom prst="ellipse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914400" y="5486400"/>
            <a:ext cx="2286000" cy="2286000"/>
          </a:xfrm>
          <a:prstGeom prst="ellipse">
            <a:avLst/>
          </a:prstGeom>
          <a:solidFill>
            <a:srgbClr val="14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194560"/>
            <a:ext cx="12191695" cy="25603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3774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Microsoft YaHei"/>
              </a:defRPr>
            </a:pPr>
            <a:r>
              <a:t>大数据学期项目计划二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004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>
                <a:solidFill>
                  <a:srgbClr val="FFFFFF"/>
                </a:solidFill>
                <a:latin typeface="Microsoft YaHei"/>
              </a:defRPr>
            </a:pPr>
            <a:r>
              <a:t>RAG 检索增强生成助手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5120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94A3B8"/>
                </a:solidFill>
                <a:latin typeface="Microsoft YaHei"/>
              </a:defRPr>
            </a:pPr>
            <a:r>
              <a:t>ChromaDB  |  DeepSeek V4  |  Qwen3-Embedding  |  Streamlit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55778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Microsoft YaHei"/>
              </a:defRPr>
            </a:pPr>
            <a:r>
              <a:t>2025-2026 学年  |  小组答辩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D2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目  录</a:t>
            </a:r>
          </a:p>
        </p:txBody>
      </p:sp>
      <p:sp>
        <p:nvSpPr>
          <p:cNvPr id="5" name="Oval 4"/>
          <p:cNvSpPr/>
          <p:nvPr/>
        </p:nvSpPr>
        <p:spPr>
          <a:xfrm>
            <a:off x="1097280" y="1325880"/>
            <a:ext cx="457200" cy="457200"/>
          </a:xfrm>
          <a:prstGeom prst="ellipse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3716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13716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1E293B"/>
                </a:solidFill>
                <a:latin typeface="Microsoft YaHei"/>
              </a:defRPr>
            </a:pPr>
            <a:r>
              <a:t>项目背景与目标</a:t>
            </a:r>
          </a:p>
        </p:txBody>
      </p:sp>
      <p:sp>
        <p:nvSpPr>
          <p:cNvPr id="8" name="Oval 7"/>
          <p:cNvSpPr/>
          <p:nvPr/>
        </p:nvSpPr>
        <p:spPr>
          <a:xfrm>
            <a:off x="1097280" y="2286000"/>
            <a:ext cx="457200" cy="457200"/>
          </a:xfrm>
          <a:prstGeom prst="ellipse">
            <a:avLst/>
          </a:prstGeom>
          <a:solidFill>
            <a:srgbClr val="14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3317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23317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1E293B"/>
                </a:solidFill>
                <a:latin typeface="Microsoft YaHei"/>
              </a:defRPr>
            </a:pPr>
            <a:r>
              <a:t>系统架构总览</a:t>
            </a:r>
          </a:p>
        </p:txBody>
      </p:sp>
      <p:sp>
        <p:nvSpPr>
          <p:cNvPr id="11" name="Oval 10"/>
          <p:cNvSpPr/>
          <p:nvPr/>
        </p:nvSpPr>
        <p:spPr>
          <a:xfrm>
            <a:off x="1097280" y="3246120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2918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32918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1E293B"/>
                </a:solidFill>
                <a:latin typeface="Microsoft YaHei"/>
              </a:defRPr>
            </a:pPr>
            <a:r>
              <a:t>数据流水线详解</a:t>
            </a:r>
          </a:p>
        </p:txBody>
      </p:sp>
      <p:sp>
        <p:nvSpPr>
          <p:cNvPr id="14" name="Oval 13"/>
          <p:cNvSpPr/>
          <p:nvPr/>
        </p:nvSpPr>
        <p:spPr>
          <a:xfrm>
            <a:off x="1097280" y="4206240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42519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42519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1E293B"/>
                </a:solidFill>
                <a:latin typeface="Microsoft YaHei"/>
              </a:defRPr>
            </a:pPr>
            <a:r>
              <a:t>检索与答案生成</a:t>
            </a:r>
          </a:p>
        </p:txBody>
      </p:sp>
      <p:sp>
        <p:nvSpPr>
          <p:cNvPr id="17" name="Oval 16"/>
          <p:cNvSpPr/>
          <p:nvPr/>
        </p:nvSpPr>
        <p:spPr>
          <a:xfrm>
            <a:off x="1097280" y="5166360"/>
            <a:ext cx="457200" cy="45720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43000" y="52120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52120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1E293B"/>
                </a:solidFill>
                <a:latin typeface="Microsoft YaHei"/>
              </a:defRPr>
            </a:pPr>
            <a:r>
              <a:t>代码质量与测试</a:t>
            </a:r>
          </a:p>
        </p:txBody>
      </p:sp>
      <p:sp>
        <p:nvSpPr>
          <p:cNvPr id="20" name="Oval 19"/>
          <p:cNvSpPr/>
          <p:nvPr/>
        </p:nvSpPr>
        <p:spPr>
          <a:xfrm>
            <a:off x="6583680" y="1325880"/>
            <a:ext cx="457200" cy="457200"/>
          </a:xfrm>
          <a:prstGeom prst="ellipse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29400" y="13716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13716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1E293B"/>
                </a:solidFill>
                <a:latin typeface="Microsoft YaHei"/>
              </a:defRPr>
            </a:pPr>
            <a:r>
              <a:t>项目运行数据</a:t>
            </a:r>
          </a:p>
        </p:txBody>
      </p:sp>
      <p:sp>
        <p:nvSpPr>
          <p:cNvPr id="23" name="Oval 22"/>
          <p:cNvSpPr/>
          <p:nvPr/>
        </p:nvSpPr>
        <p:spPr>
          <a:xfrm>
            <a:off x="6583680" y="2286000"/>
            <a:ext cx="457200" cy="457200"/>
          </a:xfrm>
          <a:prstGeom prst="ellipse">
            <a:avLst/>
          </a:prstGeom>
          <a:solidFill>
            <a:srgbClr val="14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29400" y="23317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23317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1E293B"/>
                </a:solidFill>
                <a:latin typeface="Microsoft YaHei"/>
              </a:defRPr>
            </a:pPr>
            <a:r>
              <a:t>项目创新亮点</a:t>
            </a:r>
          </a:p>
        </p:txBody>
      </p:sp>
      <p:sp>
        <p:nvSpPr>
          <p:cNvPr id="26" name="Oval 25"/>
          <p:cNvSpPr/>
          <p:nvPr/>
        </p:nvSpPr>
        <p:spPr>
          <a:xfrm>
            <a:off x="6583680" y="3246120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29400" y="32918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08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23760" y="32918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1E293B"/>
                </a:solidFill>
                <a:latin typeface="Microsoft YaHei"/>
              </a:defRPr>
            </a:pPr>
            <a:r>
              <a:t>局限与改进方向</a:t>
            </a:r>
          </a:p>
        </p:txBody>
      </p:sp>
      <p:sp>
        <p:nvSpPr>
          <p:cNvPr id="29" name="Oval 28"/>
          <p:cNvSpPr/>
          <p:nvPr/>
        </p:nvSpPr>
        <p:spPr>
          <a:xfrm>
            <a:off x="6583680" y="4206240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29400" y="42519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09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60" y="42519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1E293B"/>
                </a:solidFill>
                <a:latin typeface="Microsoft YaHei"/>
              </a:defRPr>
            </a:pPr>
            <a:r>
              <a:t>演示环节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D2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一、项目背景与目标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5303520" cy="50292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1554480"/>
            <a:ext cx="457200" cy="45720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7276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5544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F4444"/>
                </a:solidFill>
                <a:latin typeface="Microsoft YaHei"/>
              </a:defRPr>
            </a:pPr>
            <a:r>
              <a:t>企业痛点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031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Microsoft YaHei"/>
              </a:defRPr>
            </a:pPr>
            <a:r>
              <a:t>知识分散在各类非结构化文档中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6060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Microsoft YaHei"/>
              </a:defRPr>
            </a:pPr>
            <a:r>
              <a:t>关键词搜索无法理解语义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1089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Microsoft YaHei"/>
              </a:defRPr>
            </a:pPr>
            <a:r>
              <a:t>团队重复回答相同问题效率低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6118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Microsoft YaHei"/>
              </a:defRPr>
            </a:pPr>
            <a:r>
              <a:t>新员工上手慢知识靠口口相传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371600"/>
            <a:ext cx="5303520" cy="50292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675120" y="1554480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0" y="157276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!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15544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  <a:latin typeface="Microsoft YaHei"/>
              </a:defRPr>
            </a:pPr>
            <a:r>
              <a:t>项目目标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21031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Microsoft YaHei"/>
              </a:defRPr>
            </a:pPr>
            <a:r>
              <a:t>构建完整 RAG 问答流水线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26060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Microsoft YaHei"/>
              </a:defRPr>
            </a:pPr>
            <a:r>
              <a:t>全链路自动化处理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31089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Microsoft YaHei"/>
              </a:defRPr>
            </a:pPr>
            <a:r>
              <a:t>语义检索加元数据混合搜索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36118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Microsoft YaHei"/>
              </a:defRPr>
            </a:pPr>
            <a:r>
              <a:t>带来源追溯防幻觉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41148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Microsoft YaHei"/>
              </a:defRPr>
            </a:pPr>
            <a:r>
              <a:t>CLI 加 Streamlit 双模式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D2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二、系统架构总览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Microsoft YaHei"/>
              </a:defRPr>
            </a:pPr>
            <a:r>
              <a:t>七层流水线：从原始文档到带来源追溯的智能问答</a:t>
            </a:r>
          </a:p>
        </p:txBody>
      </p:sp>
      <p:sp>
        <p:nvSpPr>
          <p:cNvPr id="6" name="Rectangle 5"/>
          <p:cNvSpPr/>
          <p:nvPr/>
        </p:nvSpPr>
        <p:spPr>
          <a:xfrm>
            <a:off x="966063" y="2103120"/>
            <a:ext cx="1371600" cy="11887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1</a:t>
            </a:r>
          </a:p>
          <a:p>
            <a:pPr algn="ctr"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数据摄取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91943" y="2514600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94A3B8"/>
                </a:solidFill>
                <a:latin typeface="Microsoft YaHei"/>
              </a:defRPr>
            </a:pPr>
            <a:r>
              <a:t>&gt;</a:t>
            </a:r>
          </a:p>
        </p:txBody>
      </p:sp>
      <p:sp>
        <p:nvSpPr>
          <p:cNvPr id="8" name="Rectangle 7"/>
          <p:cNvSpPr/>
          <p:nvPr/>
        </p:nvSpPr>
        <p:spPr>
          <a:xfrm>
            <a:off x="2447391" y="2103120"/>
            <a:ext cx="1371600" cy="1188720"/>
          </a:xfrm>
          <a:prstGeom prst="rect">
            <a:avLst/>
          </a:prstGeom>
          <a:solidFill>
            <a:srgbClr val="14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2</a:t>
            </a:r>
          </a:p>
          <a:p>
            <a:pPr algn="ctr"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文本预处理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73271" y="2514600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94A3B8"/>
                </a:solidFill>
                <a:latin typeface="Microsoft YaHei"/>
              </a:defRPr>
            </a:pPr>
            <a:r>
              <a:t>&gt;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28719" y="2103120"/>
            <a:ext cx="1371600" cy="1188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3</a:t>
            </a:r>
          </a:p>
          <a:p>
            <a:pPr algn="ctr"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向量嵌入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54599" y="2514600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94A3B8"/>
                </a:solidFill>
                <a:latin typeface="Microsoft YaHei"/>
              </a:defRPr>
            </a:pPr>
            <a:r>
              <a:t>&gt;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10047" y="2103120"/>
            <a:ext cx="1371600" cy="118872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4</a:t>
            </a:r>
          </a:p>
          <a:p>
            <a:pPr algn="ctr"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ChromaDB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35927" y="2514600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94A3B8"/>
                </a:solidFill>
                <a:latin typeface="Microsoft YaHei"/>
              </a:defRPr>
            </a:pPr>
            <a:r>
              <a:t>&gt;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91375" y="2103120"/>
            <a:ext cx="1371600" cy="1188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5</a:t>
            </a:r>
          </a:p>
          <a:p>
            <a:pPr algn="ctr"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查询解析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17255" y="2514600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94A3B8"/>
                </a:solidFill>
                <a:latin typeface="Microsoft YaHei"/>
              </a:defRPr>
            </a:pPr>
            <a:r>
              <a:t>&gt;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72703" y="2103120"/>
            <a:ext cx="1371600" cy="11887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6</a:t>
            </a:r>
          </a:p>
          <a:p>
            <a:pPr algn="ctr"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混合检索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98583" y="2514600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94A3B8"/>
                </a:solidFill>
                <a:latin typeface="Microsoft YaHei"/>
              </a:defRPr>
            </a:pPr>
            <a:r>
              <a:t>&gt;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854031" y="2103120"/>
            <a:ext cx="1371600" cy="1188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7</a:t>
            </a:r>
          </a:p>
          <a:p>
            <a:pPr algn="ctr"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答案生成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6576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  <a:latin typeface="Microsoft YaHei"/>
              </a:defRPr>
            </a:pPr>
            <a:r>
              <a:t>输入：data/raw/ -&gt; 98 篇文档（46 篇课程资料 + 52 篇 Wikipedia 词条）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023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  <a:latin typeface="Microsoft YaHei"/>
              </a:defRPr>
            </a:pPr>
            <a:r>
              <a:t>输出：CLI 命令行  |  Streamlit Web 界面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1206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</a:p>
          <a:p>
            <a:pPr algn="l">
              <a:spcBef>
                <a:spcPts val="0"/>
              </a:spcBef>
              <a:spcAft>
                <a:spcPts val="400"/>
              </a:spcAft>
              <a:defRPr sz="1200" b="0">
                <a:solidFill>
                  <a:srgbClr val="6B7280"/>
                </a:solidFill>
                <a:latin typeface="Microsoft YaHei"/>
              </a:defRPr>
            </a:pPr>
            <a:r>
              <a:t>数据流：读取 -&gt; 清洗分块 -&gt; LLM 元数据 -&gt; Qwen3 嵌入 -&gt; ChromaDB 存储 -&gt; 解析 -&gt; 混合检索 -&gt; DeepSeek 生成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D2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三、数据流水线详解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Microsoft YaHei"/>
              </a:defRPr>
            </a:pPr>
            <a:r>
              <a:t>文档摄取与语料自动采集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5303520" cy="50292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389888"/>
            <a:ext cx="5266944" cy="36576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0876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56DB"/>
                </a:solidFill>
                <a:latin typeface="Microsoft YaHei"/>
              </a:defRPr>
            </a:pPr>
            <a:r>
              <a:t>文档加载 ingest.py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874520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  * 支持 .md / .txt / .pdf 格式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130552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  * 递归遍历 data/raw/ 目录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386584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  * 解析 YAML Front-Matter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642616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  * 返回结构化文档对象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898648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  * UTF-8 容错读取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1371600"/>
            <a:ext cx="5303520" cy="50292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27648" y="1389888"/>
            <a:ext cx="5266944" cy="36576"/>
          </a:xfrm>
          <a:prstGeom prst="rect">
            <a:avLst/>
          </a:prstGeom>
          <a:solidFill>
            <a:srgbClr val="14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150876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48A8A"/>
                </a:solidFill>
                <a:latin typeface="Microsoft YaHei"/>
              </a:defRPr>
            </a:pPr>
            <a:r>
              <a:t>语料采集 collect_corpus.py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1874520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  * Wikipedia REST API 免费调用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130552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  * 58 个话题成功采集 52 个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386584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  * 优先中文失败回退英文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642616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  * 限速保护 2 秒间隔 3 次重试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2898648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  * 429 自动等待 404 直接跳过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3154680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  * 输出带 Front-Matter 的 MD 文件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D2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三、文本清洗与语义分块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56DB"/>
                </a:solidFill>
                <a:latin typeface="Microsoft YaHei"/>
              </a:defRPr>
            </a:pPr>
            <a:r>
              <a:t>文本清洗四步流水线 clean_text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10515600" cy="4114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56DB"/>
                </a:solidFill>
                <a:latin typeface="Microsoft YaHei"/>
              </a:defRPr>
            </a:pPr>
            <a:r>
              <a:t>第一步：移除 HTML 标签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87452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Microsoft YaHei"/>
              </a:defRPr>
            </a:pPr>
            <a:r>
              <a:t>正则 &lt;[^&gt;]+&gt; 替换为空格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331720"/>
            <a:ext cx="10515600" cy="4114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3774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56DB"/>
                </a:solidFill>
                <a:latin typeface="Microsoft YaHei"/>
              </a:defRPr>
            </a:pPr>
            <a:r>
              <a:t>第二步：解码 HTML 实体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237744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Microsoft YaHei"/>
              </a:defRPr>
            </a:pPr>
            <a:r>
              <a:t>&amp;amp; -&gt; &amp;   &amp;lt; -&gt; &lt;   &amp;nbsp; -&gt; 空格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834640"/>
            <a:ext cx="10515600" cy="4114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8803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56DB"/>
                </a:solidFill>
                <a:latin typeface="Microsoft YaHei"/>
              </a:defRPr>
            </a:pPr>
            <a:r>
              <a:t>第三步：过滤控制字符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288036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Microsoft YaHei"/>
              </a:defRPr>
            </a:pPr>
            <a:r>
              <a:t>保留换行符和制表符，移除不可打印字符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337560"/>
            <a:ext cx="10515600" cy="4114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3832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56DB"/>
                </a:solidFill>
                <a:latin typeface="Microsoft YaHei"/>
              </a:defRPr>
            </a:pPr>
            <a:r>
              <a:t>第四步：空白规范化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338328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Microsoft YaHei"/>
              </a:defRPr>
            </a:pPr>
            <a:r>
              <a:t>合并连续空格，压缩多余换行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840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48A8A"/>
                </a:solidFill>
                <a:latin typeface="Microsoft YaHei"/>
              </a:defRPr>
            </a:pPr>
            <a:r>
              <a:t>语义分块四层优先级 chunk_text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4297680"/>
            <a:ext cx="36576" cy="365760"/>
          </a:xfrm>
          <a:prstGeom prst="rect">
            <a:avLst/>
          </a:prstGeom>
          <a:solidFill>
            <a:srgbClr val="14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42976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8A8A"/>
                </a:solidFill>
                <a:latin typeface="Microsoft YaHei"/>
              </a:defRPr>
            </a:pPr>
            <a:r>
              <a:t>第一层：段落边界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49039" y="42976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按空行切分，保持段落语义完整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4754880"/>
            <a:ext cx="36576" cy="365760"/>
          </a:xfrm>
          <a:prstGeom prst="rect">
            <a:avLst/>
          </a:prstGeom>
          <a:solidFill>
            <a:srgbClr val="14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47548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8A8A"/>
                </a:solidFill>
                <a:latin typeface="Microsoft YaHei"/>
              </a:defRPr>
            </a:pPr>
            <a:r>
              <a:t>第二层：句子边界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49039" y="47548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按句末标点切分，保留完整句子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5212080"/>
            <a:ext cx="36576" cy="365760"/>
          </a:xfrm>
          <a:prstGeom prst="rect">
            <a:avLst/>
          </a:prstGeom>
          <a:solidFill>
            <a:srgbClr val="14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52120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8A8A"/>
                </a:solidFill>
                <a:latin typeface="Microsoft YaHei"/>
              </a:defRPr>
            </a:pPr>
            <a:r>
              <a:t>第三层：贪心合并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49039" y="52120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合并到 chunk_size=700 字符，重叠 120 字符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5669280"/>
            <a:ext cx="36576" cy="365760"/>
          </a:xfrm>
          <a:prstGeom prst="rect">
            <a:avLst/>
          </a:prstGeom>
          <a:solidFill>
            <a:srgbClr val="14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5840" y="56692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8A8A"/>
                </a:solidFill>
                <a:latin typeface="Microsoft YaHei"/>
              </a:defRPr>
            </a:pPr>
            <a:r>
              <a:t>第四层：滑窗切割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49039" y="56692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超长文本以 step=chunk_size-overlap 切割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D2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三、LLM 元数据提取与 JSON 安全解析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5303520" cy="4572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389888"/>
            <a:ext cx="5266944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0876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  <a:latin typeface="Microsoft YaHei"/>
              </a:defRPr>
            </a:pPr>
            <a:r>
              <a:t>LLM 元数据提取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74520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  * 发送前 1200 字符给 DeepSeek V4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30552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  * 返回 JSON：作者/年份/分类/语言/摘要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386584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  * Front-Matter 优先覆盖 LLM 结果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642616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  * 文件名后缀猜测兜底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898648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  * 98 篇文档成本小于 0.5 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371600"/>
            <a:ext cx="5303520" cy="4572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27648" y="1389888"/>
            <a:ext cx="5266944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150876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B5CF6"/>
                </a:solidFill>
                <a:latin typeface="Microsoft YaHei"/>
              </a:defRPr>
            </a:pPr>
            <a:r>
              <a:t>JSON 安全解析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1874520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  * 不因 LLM 格式问题中断流水线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130552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  * 第一层：标准 json.loads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386584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  * 第二层：截断到完整大括号对象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642616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  * 第三层：移除注释和尾随逗号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898648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  * 第四层：逐字段正则提取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5669280"/>
            <a:ext cx="11064240" cy="73152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5669280"/>
            <a:ext cx="54864" cy="73152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571500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6D6A0"/>
                </a:solidFill>
                <a:latin typeface="Microsoft YaHei"/>
              </a:defRPr>
            </a:pPr>
            <a:r>
              <a:t>合并策略：Front-Matter 人工标注 &gt; LLM 提取 &gt; 文件名猜测 -&gt; 最终写入 ChromaDB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D2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四、检索与答案生成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Microsoft YaHei"/>
              </a:defRPr>
            </a:pPr>
            <a:r>
              <a:t>向量存储与混合检索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5303520" cy="4572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389888"/>
            <a:ext cx="5266944" cy="36576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0876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56DB"/>
                </a:solidFill>
                <a:latin typeface="Microsoft YaHei"/>
              </a:defRPr>
            </a:pPr>
            <a:r>
              <a:t>向量存储配置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874520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  * 数据库：ChromaDB 本地持久化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130552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  * 距离度量：Cosine 余弦距离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386584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  * 索引算法：HNSW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642616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  * 写入策略：批量 upsert 每次 64 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898648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  * 双模式嵌入：本地/远程自由切换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154680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  * 存储路径：vector_store/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1371600"/>
            <a:ext cx="5303520" cy="4572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27648" y="1389888"/>
            <a:ext cx="5266944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150876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Microsoft YaHei"/>
              </a:defRPr>
            </a:pPr>
            <a:r>
              <a:t>混合检索三大能力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1874520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  * 1. 纯语义搜索：向量相似度 Top-K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130552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  * 2. 语义加 Where 过滤：按年份/分类筛选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386584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  * 3. 最大距离阈值：过滤低质量结果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2642616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  * 4. Where 失败自动回退纯语义搜索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5669280"/>
            <a:ext cx="11064240" cy="73152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5669280"/>
            <a:ext cx="54864" cy="7315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571500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9E0B"/>
                </a:solidFill>
                <a:latin typeface="Microsoft YaHei"/>
              </a:defRPr>
            </a:pPr>
            <a:r>
              <a:t>降级保障：Where 过滤失败 -&gt; 自动移除过滤条件 -&gt; 纯语义搜索回退 -&gt; 用户永不见空白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D2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四、本地嵌入模型（GPU 加速）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11064240" cy="2286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54864" cy="2286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0B981"/>
                </a:solidFill>
                <a:latin typeface="Microsoft YaHei"/>
              </a:defRPr>
            </a:pPr>
            <a:r>
              <a:t>Qwen3-Embedding-0.6B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Microsoft YaHei"/>
              </a:defRPr>
            </a:pPr>
            <a:r>
              <a:t>* 参数量 0.6B，输出 1024 维向量，支持 32K 上下文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317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Microsoft YaHei"/>
              </a:defRPr>
            </a:pPr>
            <a:r>
              <a:t>* 中文 MTEB 66.33 同级最优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6517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Microsoft YaHei"/>
              </a:defRPr>
            </a:pPr>
            <a:r>
              <a:t>* 自动检测 CUDA 启用 GPU 加速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9718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Microsoft YaHei"/>
              </a:defRPr>
            </a:pPr>
            <a:r>
              <a:t>* 编码 130 多个文本块仅需 10-20 秒（GPU 加速）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2918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Microsoft YaHei"/>
              </a:defRPr>
            </a:pPr>
            <a:r>
              <a:t>* 通过环境变量可一键切换任意 HuggingFace 模型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931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56DB"/>
                </a:solidFill>
                <a:latin typeface="Microsoft YaHei"/>
              </a:defRPr>
            </a:pPr>
            <a:r>
              <a:t>双模式嵌入切换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4389120"/>
            <a:ext cx="2560320" cy="411480"/>
          </a:xfrm>
          <a:prstGeom prst="rect">
            <a:avLst/>
          </a:prstGeom>
          <a:solidFill>
            <a:srgbClr val="0D2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74720" y="4389120"/>
            <a:ext cx="2286000" cy="411480"/>
          </a:xfrm>
          <a:prstGeom prst="rect">
            <a:avLst/>
          </a:prstGeom>
          <a:solidFill>
            <a:srgbClr val="0D2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43600" y="4389120"/>
            <a:ext cx="1645920" cy="411480"/>
          </a:xfrm>
          <a:prstGeom prst="rect">
            <a:avLst/>
          </a:prstGeom>
          <a:solidFill>
            <a:srgbClr val="0D2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0" y="4389120"/>
            <a:ext cx="1645920" cy="411480"/>
          </a:xfrm>
          <a:prstGeom prst="rect">
            <a:avLst/>
          </a:prstGeom>
          <a:solidFill>
            <a:srgbClr val="0D2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601200" y="4389120"/>
            <a:ext cx="1828800" cy="411480"/>
          </a:xfrm>
          <a:prstGeom prst="rect">
            <a:avLst/>
          </a:prstGeom>
          <a:solidFill>
            <a:srgbClr val="0D2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4348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模式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443484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模型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35040" y="443484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维度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443484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成本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92640" y="44348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速度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4846320"/>
            <a:ext cx="2560320" cy="4114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48920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E293B"/>
                </a:solidFill>
                <a:latin typeface="Microsoft YaHei"/>
              </a:defRPr>
            </a:pPr>
            <a:r>
              <a:t>本地（当前）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474720" y="4846320"/>
            <a:ext cx="2286000" cy="4114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66160" y="489204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Qwen3-0.6B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43600" y="4846320"/>
            <a:ext cx="1645920" cy="4114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35040" y="489204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1024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0" y="4846320"/>
            <a:ext cx="1645920" cy="4114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63840" y="489204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0 元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601200" y="4846320"/>
            <a:ext cx="1828800" cy="4114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92640" y="48920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GPU 10-20 秒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1520" y="5257800"/>
            <a:ext cx="256032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60" y="530352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E293B"/>
                </a:solidFill>
                <a:latin typeface="Microsoft YaHei"/>
              </a:defRPr>
            </a:pPr>
            <a:r>
              <a:t>远程 API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474720" y="5257800"/>
            <a:ext cx="22860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566160" y="53035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text-embed-3-small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943600" y="5257800"/>
            <a:ext cx="164592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035040" y="53035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1536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772400" y="5257800"/>
            <a:ext cx="164592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863840" y="53035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约 0.01 元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601200" y="5257800"/>
            <a:ext cx="18288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692640" y="53035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API 延迟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D2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四、查询意图解析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Microsoft YaHei"/>
              </a:defRPr>
            </a:pPr>
            <a:r>
              <a:t>将自然语言自动转为结构化搜索参数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  <a:latin typeface="Microsoft YaHei"/>
              </a:defRPr>
            </a:pPr>
            <a:r>
              <a:t>LLM 自动将用户问题拆解为搜索词加过滤条件，用户无需学习搜索语法。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828800"/>
            <a:ext cx="10698480" cy="7772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828800"/>
            <a:ext cx="54864" cy="7772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874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56DB"/>
                </a:solidFill>
                <a:latin typeface="Microsoft YaHei"/>
              </a:defRPr>
            </a:pPr>
            <a:r>
              <a:t>用户提问：去年期末怎么考？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1945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Microsoft YaHei"/>
              </a:defRPr>
            </a:pPr>
            <a:r>
              <a:t>解析结果：{"search_query": "期末考试 形式", "filters": {"year": 2025, "category": "notice"}}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743200"/>
            <a:ext cx="10698480" cy="7772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2743200"/>
            <a:ext cx="54864" cy="7772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27889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56DB"/>
                </a:solidFill>
                <a:latin typeface="Microsoft YaHei"/>
              </a:defRPr>
            </a:pPr>
            <a:r>
              <a:t>用户提问：2024 年通知讲了啥？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1089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Microsoft YaHei"/>
              </a:defRPr>
            </a:pPr>
            <a:r>
              <a:t>解析结果：{"search_query": "通知", "filters": {"year": 2024, "category": "notice"}}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657600"/>
            <a:ext cx="10698480" cy="7772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3657600"/>
            <a:ext cx="54864" cy="7772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37033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56DB"/>
                </a:solidFill>
                <a:latin typeface="Microsoft YaHei"/>
              </a:defRPr>
            </a:pPr>
            <a:r>
              <a:t>用户提问：什么是向量数据库？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0233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Microsoft YaHei"/>
              </a:defRPr>
            </a:pPr>
            <a:r>
              <a:t>解析结果：{"search_query": "向量数据库", "filters": null}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4572000"/>
            <a:ext cx="10698480" cy="7772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4572000"/>
            <a:ext cx="54864" cy="7772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46177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56DB"/>
                </a:solidFill>
                <a:latin typeface="Microsoft YaHei"/>
              </a:defRPr>
            </a:pPr>
            <a:r>
              <a:t>用户提问：张三写的案例分析？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49377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Microsoft YaHei"/>
              </a:defRPr>
            </a:pPr>
            <a:r>
              <a:t>解析结果：{"search_query": "案例分析", "filters": {"author": "张三"}}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5760720"/>
            <a:ext cx="10698480" cy="6400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1520" y="5760720"/>
            <a:ext cx="54864" cy="6400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8064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9E0B"/>
                </a:solidFill>
                <a:latin typeface="Microsoft YaHei"/>
              </a:defRPr>
            </a:pPr>
            <a:r>
              <a:t>降级保护：JSON 解析异常或 API 调用失败时，自动使用原问题全文搜索，系统永不卡死。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D2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四、答案生成与防幻觉机制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3474720" cy="29260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920240" y="155448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65960" y="1572768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0B981"/>
                </a:solidFill>
                <a:latin typeface="Microsoft YaHei"/>
              </a:defRPr>
            </a:pPr>
            <a:r>
              <a:t>System Prompt 约束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5176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LLM 被要求仅依据</a:t>
            </a:r>
            <a:br/>
            <a:r>
              <a:t>参考资料回答，找不到</a:t>
            </a:r>
            <a:br/>
            <a:r>
              <a:t>就说不知道。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1371600"/>
            <a:ext cx="3474720" cy="29260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760720" y="155448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06440" y="1572768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2860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0B981"/>
                </a:solidFill>
                <a:latin typeface="Microsoft YaHei"/>
              </a:defRPr>
            </a:pPr>
            <a:r>
              <a:t>上下文隔离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65176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只将检索结果喂给</a:t>
            </a:r>
            <a:br/>
            <a:r>
              <a:t>LLM，不给模型自我</a:t>
            </a:r>
            <a:br/>
            <a:r>
              <a:t>发挥的空间。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1371600"/>
            <a:ext cx="3474720" cy="29260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155448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46920" y="1572768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22860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0B981"/>
                </a:solidFill>
                <a:latin typeface="Microsoft YaHei"/>
              </a:defRPr>
            </a:pPr>
            <a:r>
              <a:t>引用强制检查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265176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后端自动检查答案中</a:t>
            </a:r>
            <a:br/>
            <a:r>
              <a:t>是否含 [Source:]，</a:t>
            </a:r>
            <a:br/>
            <a:r>
              <a:t>缺失则自动补全。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572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D233F"/>
                </a:solidFill>
                <a:latin typeface="Microsoft YaHei"/>
              </a:defRPr>
            </a:pPr>
            <a:r>
              <a:t>效果验证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5029200"/>
            <a:ext cx="5303520" cy="13716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5029200"/>
            <a:ext cx="54864" cy="13716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512064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0B981"/>
                </a:solidFill>
                <a:latin typeface="Microsoft YaHei"/>
              </a:defRPr>
            </a:pPr>
            <a:r>
              <a:t>知识库有答案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44068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问：课程最后提交截止日期是什么？</a:t>
            </a:r>
            <a:br/>
            <a:r>
              <a:t>答：答案 + 【来源：xxx.md】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60" y="5029200"/>
            <a:ext cx="5303520" cy="13716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09360" y="5029200"/>
            <a:ext cx="54864" cy="13716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0" y="512064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9E0B"/>
                </a:solidFill>
                <a:latin typeface="Microsoft YaHei"/>
              </a:defRPr>
            </a:pPr>
            <a:r>
              <a:t>知识库无答案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544068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问：钢琴考级需要准备什么？</a:t>
            </a:r>
            <a:br/>
            <a:r>
              <a:t>答：资料中没有相关信息。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D2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五、代码质量与工程实践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5303520" cy="50292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389888"/>
            <a:ext cx="5266944" cy="36576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0876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56DB"/>
                </a:solidFill>
                <a:latin typeface="Microsoft YaHei"/>
              </a:defRPr>
            </a:pPr>
            <a:r>
              <a:t>模块化架构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74520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  * main.py（118 行）- CLI 入口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30552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  * ingest.py（104 行）- 文档加载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386584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  * preprocess.py（301 行）- 清洗分块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642616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  * embed_store.py（210 行）- 向量存储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898648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  * qa.py（71 行）- 答案生成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154680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  * query_parser.py（113 行）- 查询解析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410712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  * collect_corpus.py（199 行）- 语料采集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666744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  * utils.py（79 行）- 工具函数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1371600"/>
            <a:ext cx="5303520" cy="50292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27648" y="1389888"/>
            <a:ext cx="5266944" cy="36576"/>
          </a:xfrm>
          <a:prstGeom prst="rect">
            <a:avLst/>
          </a:prstGeom>
          <a:solidFill>
            <a:srgbClr val="14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150876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48A8A"/>
                </a:solidFill>
                <a:latin typeface="Microsoft YaHei"/>
              </a:defRPr>
            </a:pPr>
            <a:r>
              <a:t>测试覆盖（45 个以上用例）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1874520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  * test_preprocess - 清洗/分块/分类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130552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  * test_ingest - Front-Matter 解析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2386584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  * test_query_parser - 正常/异常/回退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2642616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  * test_embed_store - 搜索/过滤/删除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2898648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  * test_qa - 空文档/上下文/引用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3154680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  * test_integration - 全链路集成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3410712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 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3666744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  * 每个公开函数覆盖正常加回退路径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5669280"/>
            <a:ext cx="11064240" cy="73152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8640" y="5669280"/>
            <a:ext cx="54864" cy="7315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571500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8B5CF6"/>
                </a:solidFill>
                <a:latin typeface="Microsoft YaHei"/>
              </a:defRPr>
            </a:pPr>
            <a:r>
              <a:t>工程规范：类型注解全覆盖 | 模块间单向依赖 | 显式 init_env | OpenAI 单例 | 分层错误处理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D2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六、项目运行数据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5303520" cy="41148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56DB"/>
                </a:solidFill>
                <a:latin typeface="Microsoft YaHei"/>
              </a:defRPr>
            </a:pPr>
            <a:r>
              <a:t>数据规模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116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Microsoft YaHei"/>
              </a:defRPr>
            </a:pPr>
            <a:r>
              <a:t>课程文档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011680"/>
            <a:ext cx="36576" cy="3200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6080" y="20116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56DB"/>
                </a:solidFill>
                <a:latin typeface="Microsoft YaHei"/>
              </a:defRPr>
            </a:pPr>
            <a:r>
              <a:t>46 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5146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Microsoft YaHei"/>
              </a:defRPr>
            </a:pPr>
            <a:r>
              <a:t>Wikipedia 词条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0" y="2514600"/>
            <a:ext cx="36576" cy="320040"/>
          </a:xfrm>
          <a:prstGeom prst="rect">
            <a:avLst/>
          </a:prstGeom>
          <a:solidFill>
            <a:srgbClr val="14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26080" y="25146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48A8A"/>
                </a:solidFill>
                <a:latin typeface="Microsoft YaHei"/>
              </a:defRPr>
            </a:pPr>
            <a:r>
              <a:t>52 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0175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Microsoft YaHei"/>
              </a:defRPr>
            </a:pPr>
            <a:r>
              <a:t>文档总数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0" y="3017520"/>
            <a:ext cx="36576" cy="320040"/>
          </a:xfrm>
          <a:prstGeom prst="rect">
            <a:avLst/>
          </a:prstGeom>
          <a:solidFill>
            <a:srgbClr val="0D2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26080" y="30175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D233F"/>
                </a:solidFill>
                <a:latin typeface="Microsoft YaHei"/>
              </a:defRPr>
            </a:pPr>
            <a:r>
              <a:t>98 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5204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Microsoft YaHei"/>
              </a:defRPr>
            </a:pPr>
            <a:r>
              <a:t>文档分类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0" y="3520440"/>
            <a:ext cx="36576" cy="3200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26080" y="35204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Microsoft YaHei"/>
              </a:defRPr>
            </a:pPr>
            <a:r>
              <a:t>7 大类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0233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Microsoft YaHei"/>
              </a:defRPr>
            </a:pPr>
            <a:r>
              <a:t>处理后文本块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0" y="4023360"/>
            <a:ext cx="36576" cy="320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26080" y="40233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Microsoft YaHei"/>
              </a:defRPr>
            </a:pPr>
            <a:r>
              <a:t>约 130-150 个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1371600"/>
            <a:ext cx="5303520" cy="41148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15544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56DB"/>
                </a:solidFill>
                <a:latin typeface="Microsoft YaHei"/>
              </a:defRPr>
            </a:pPr>
            <a:r>
              <a:t>API 调用成本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20116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Microsoft YaHei"/>
              </a:defRPr>
            </a:pPr>
            <a:r>
              <a:t>元数据提取 98 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0" y="20116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10B981"/>
                </a:solidFill>
                <a:latin typeface="Microsoft YaHei"/>
              </a:defRPr>
            </a:pPr>
            <a:r>
              <a:t>约 0.3 元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25146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Microsoft YaHei"/>
              </a:defRPr>
            </a:pPr>
            <a:r>
              <a:t>查询解析每次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6880" y="2514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10B981"/>
                </a:solidFill>
                <a:latin typeface="Microsoft YaHei"/>
              </a:defRPr>
            </a:pPr>
            <a:r>
              <a:t>约 0.003 元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30175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Microsoft YaHei"/>
              </a:defRPr>
            </a:pPr>
            <a:r>
              <a:t>答案生成每次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6880" y="30175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10B981"/>
                </a:solidFill>
                <a:latin typeface="Microsoft YaHei"/>
              </a:defRPr>
            </a:pPr>
            <a:r>
              <a:t>约 0.005 元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35204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Microsoft YaHei"/>
              </a:defRPr>
            </a:pPr>
            <a:r>
              <a:t>文本嵌入（本地 GPU）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0" y="35204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06D6A0"/>
                </a:solidFill>
                <a:latin typeface="Microsoft YaHei"/>
              </a:defRPr>
            </a:pPr>
            <a:r>
              <a:t>0 元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40233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Microsoft YaHei"/>
              </a:defRPr>
            </a:pPr>
            <a:r>
              <a:t>建库总成本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26880" y="40233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0D233F"/>
                </a:solidFill>
                <a:latin typeface="Microsoft YaHei"/>
              </a:defRPr>
            </a:pPr>
            <a:r>
              <a:t>小于 0.5 元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0" y="45262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Microsoft YaHei"/>
              </a:defRPr>
            </a:pPr>
            <a:r>
              <a:t>单次查询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26880" y="45262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59E0B"/>
                </a:solidFill>
                <a:latin typeface="Microsoft YaHei"/>
              </a:defRPr>
            </a:pPr>
            <a:r>
              <a:t>约 0.01 元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5486400"/>
            <a:ext cx="1645920" cy="7315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55778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98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58978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文档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468880" y="5486400"/>
            <a:ext cx="1645920" cy="731520"/>
          </a:xfrm>
          <a:prstGeom prst="rect">
            <a:avLst/>
          </a:prstGeom>
          <a:solidFill>
            <a:srgbClr val="14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468880" y="55778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130+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468880" y="58978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文本块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389120" y="5486400"/>
            <a:ext cx="1645920" cy="7315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389120" y="55778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&lt;0.5 元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89120" y="58978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总成本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48640" y="6309360"/>
            <a:ext cx="1645920" cy="73152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8640" y="64008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1024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8640" y="67208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维度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468880" y="6309360"/>
            <a:ext cx="1645920" cy="7315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468880" y="64008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7 类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468880" y="67208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分类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389120" y="6309360"/>
            <a:ext cx="1645920" cy="7315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389120" y="64008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45+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389120" y="67208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测试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D2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七、项目创新亮点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5394960" cy="14630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280160"/>
            <a:ext cx="54864" cy="14630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4173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A56DB"/>
                </a:solidFill>
                <a:latin typeface="Microsoft YaHei"/>
              </a:defRPr>
            </a:pPr>
            <a:r>
              <a:t>查询意图解析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82880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Microsoft YaHei"/>
              </a:defRPr>
            </a:pPr>
            <a:r>
              <a:t>LLM 将自然语言自动转为</a:t>
            </a:r>
            <a:br/>
            <a:r>
              <a:t>结构化搜索参数，用户无需</a:t>
            </a:r>
            <a:br/>
            <a:r>
              <a:t>学习搜索语法。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280160"/>
            <a:ext cx="5394960" cy="14630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280160"/>
            <a:ext cx="54864" cy="1463040"/>
          </a:xfrm>
          <a:prstGeom prst="rect">
            <a:avLst/>
          </a:prstGeom>
          <a:solidFill>
            <a:srgbClr val="14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4173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48A8A"/>
                </a:solidFill>
                <a:latin typeface="Microsoft YaHei"/>
              </a:defRPr>
            </a:pPr>
            <a:r>
              <a:t>多层降级策略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182880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Microsoft YaHei"/>
              </a:defRPr>
            </a:pPr>
            <a:r>
              <a:t>解析失败 -&gt; 全文搜索</a:t>
            </a:r>
            <a:br/>
            <a:r>
              <a:t>Where 失败 -&gt; 纯语义搜索</a:t>
            </a:r>
            <a:br/>
            <a:r>
              <a:t>JSON 失败 -&gt; 正则兜底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971800"/>
            <a:ext cx="5394960" cy="14630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2971800"/>
            <a:ext cx="54864" cy="14630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1089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0B981"/>
                </a:solidFill>
                <a:latin typeface="Microsoft YaHei"/>
              </a:defRPr>
            </a:pPr>
            <a:r>
              <a:t>Front-Matter 优先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52044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Microsoft YaHei"/>
              </a:defRPr>
            </a:pPr>
            <a:r>
              <a:t>人工 YAML 标注自动覆盖</a:t>
            </a:r>
            <a:br/>
            <a:r>
              <a:t>LLM 提取结果，尊重人工</a:t>
            </a:r>
            <a:br/>
            <a:r>
              <a:t>标注准确性。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2971800"/>
            <a:ext cx="5394960" cy="14630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2971800"/>
            <a:ext cx="54864" cy="146304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31089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6D6A0"/>
                </a:solidFill>
                <a:latin typeface="Microsoft YaHei"/>
              </a:defRPr>
            </a:pPr>
            <a:r>
              <a:t>来源强制追溯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352044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Microsoft YaHei"/>
              </a:defRPr>
            </a:pPr>
            <a:r>
              <a:t>System Prompt 约束加后端</a:t>
            </a:r>
            <a:br/>
            <a:r>
              <a:t>自动检查补全，100%</a:t>
            </a:r>
            <a:br/>
            <a:r>
              <a:t>答案可核查来源。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663440"/>
            <a:ext cx="5394960" cy="14630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4663440"/>
            <a:ext cx="54864" cy="1463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48006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59E0B"/>
                </a:solidFill>
                <a:latin typeface="Microsoft YaHei"/>
              </a:defRPr>
            </a:pPr>
            <a:r>
              <a:t>GPU 加速本地嵌入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21208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Microsoft YaHei"/>
              </a:defRPr>
            </a:pPr>
            <a:r>
              <a:t>Qwen3 自动 CUDA 加速</a:t>
            </a:r>
            <a:br/>
            <a:r>
              <a:t>编码速度提升 20 倍</a:t>
            </a:r>
            <a:br/>
            <a:r>
              <a:t>零 API 费用。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4663440"/>
            <a:ext cx="5394960" cy="14630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17920" y="4663440"/>
            <a:ext cx="54864" cy="14630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6520" y="48006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8B5CF6"/>
                </a:solidFill>
                <a:latin typeface="Microsoft YaHei"/>
              </a:defRPr>
            </a:pPr>
            <a:r>
              <a:t>安全删除机制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521208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Microsoft YaHei"/>
              </a:defRPr>
            </a:pPr>
            <a:r>
              <a:t>delete_collection 需显式</a:t>
            </a:r>
            <a:br/>
            <a:r>
              <a:t>确认 confirm=True，防止</a:t>
            </a:r>
            <a:br/>
            <a:r>
              <a:t>误删数据。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D2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七、技术选型与权衡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1920240" cy="457200"/>
          </a:xfrm>
          <a:prstGeom prst="rect">
            <a:avLst/>
          </a:prstGeom>
          <a:solidFill>
            <a:srgbClr val="0D2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技术层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0" y="1371600"/>
            <a:ext cx="2103120" cy="457200"/>
          </a:xfrm>
          <a:prstGeom prst="rect">
            <a:avLst/>
          </a:prstGeom>
          <a:solidFill>
            <a:srgbClr val="0D2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51760" y="141732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选择</a:t>
            </a:r>
          </a:p>
        </p:txBody>
      </p:sp>
      <p:sp>
        <p:nvSpPr>
          <p:cNvPr id="9" name="Rectangle 8"/>
          <p:cNvSpPr/>
          <p:nvPr/>
        </p:nvSpPr>
        <p:spPr>
          <a:xfrm>
            <a:off x="4754880" y="1371600"/>
            <a:ext cx="2103120" cy="457200"/>
          </a:xfrm>
          <a:prstGeom prst="rect">
            <a:avLst/>
          </a:prstGeom>
          <a:solidFill>
            <a:srgbClr val="0D2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0" y="141732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替代方案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49440" y="1371600"/>
            <a:ext cx="3657600" cy="457200"/>
          </a:xfrm>
          <a:prstGeom prst="rect">
            <a:avLst/>
          </a:prstGeom>
          <a:solidFill>
            <a:srgbClr val="0D2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0" y="14173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选择理由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1828800"/>
            <a:ext cx="1920240" cy="5943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" y="1901952"/>
            <a:ext cx="17739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D233F"/>
                </a:solidFill>
                <a:latin typeface="Microsoft YaHei"/>
              </a:defRPr>
            </a:pPr>
            <a:r>
              <a:t>向量数据库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560320" y="1828800"/>
            <a:ext cx="2103120" cy="5943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33472" y="1901952"/>
            <a:ext cx="19568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ChromaDB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54880" y="1828800"/>
            <a:ext cx="2103120" cy="5943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28032" y="1901952"/>
            <a:ext cx="19568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Milvus/Qdrant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949440" y="1828800"/>
            <a:ext cx="3657600" cy="5943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22592" y="1901952"/>
            <a:ext cx="35112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零部署 pip install 即用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2468880"/>
            <a:ext cx="192024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" y="2542032"/>
            <a:ext cx="17739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D233F"/>
                </a:solidFill>
                <a:latin typeface="Microsoft YaHei"/>
              </a:defRPr>
            </a:pPr>
            <a:r>
              <a:t>Embedding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560320" y="2468880"/>
            <a:ext cx="210312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633472" y="2542032"/>
            <a:ext cx="19568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Qwen3-0.6B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754880" y="2468880"/>
            <a:ext cx="210312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28032" y="2542032"/>
            <a:ext cx="19568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MiniLM-L6-v2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949440" y="2468880"/>
            <a:ext cx="365760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22592" y="2542032"/>
            <a:ext cx="35112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0.6B 参数 1024 维中文最优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3108960"/>
            <a:ext cx="1920240" cy="5943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1792" y="3182112"/>
            <a:ext cx="17739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D233F"/>
                </a:solidFill>
                <a:latin typeface="Microsoft YaHei"/>
              </a:defRPr>
            </a:pPr>
            <a:r>
              <a:t>LLM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560320" y="3108960"/>
            <a:ext cx="2103120" cy="5943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633472" y="3182112"/>
            <a:ext cx="19568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DeepSeek V4 Flash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754880" y="3108960"/>
            <a:ext cx="2103120" cy="5943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828032" y="3182112"/>
            <a:ext cx="19568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GPT-4o-mini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949440" y="3108960"/>
            <a:ext cx="3657600" cy="5943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022592" y="3182112"/>
            <a:ext cx="35112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0.14 美元/百万 token 性价比高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3749040"/>
            <a:ext cx="192024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1792" y="3822192"/>
            <a:ext cx="17739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D233F"/>
                </a:solidFill>
                <a:latin typeface="Microsoft YaHei"/>
              </a:defRPr>
            </a:pPr>
            <a:r>
              <a:t>Web 框架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560320" y="3749040"/>
            <a:ext cx="210312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633472" y="3822192"/>
            <a:ext cx="19568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Streamlit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754880" y="3749040"/>
            <a:ext cx="210312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828032" y="3822192"/>
            <a:ext cx="19568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Flask/FastAPI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949440" y="3749040"/>
            <a:ext cx="365760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022592" y="3822192"/>
            <a:ext cx="35112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纯 Python 零前端代码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48640" y="4389120"/>
            <a:ext cx="1920240" cy="5943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1792" y="4462272"/>
            <a:ext cx="17739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D233F"/>
                </a:solidFill>
                <a:latin typeface="Microsoft YaHei"/>
              </a:defRPr>
            </a:pPr>
            <a:r>
              <a:t>ETL 处理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560320" y="4389120"/>
            <a:ext cx="2103120" cy="5943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633472" y="4462272"/>
            <a:ext cx="19568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Python 原生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754880" y="4389120"/>
            <a:ext cx="2103120" cy="5943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828032" y="4462272"/>
            <a:ext cx="19568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PySpark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949440" y="4389120"/>
            <a:ext cx="3657600" cy="5943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022592" y="4462272"/>
            <a:ext cx="35112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文档少于 100 原生 Python 足够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48640" y="5029200"/>
            <a:ext cx="192024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21792" y="5102352"/>
            <a:ext cx="17739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D233F"/>
                </a:solidFill>
                <a:latin typeface="Microsoft YaHei"/>
              </a:defRPr>
            </a:pPr>
            <a:r>
              <a:t>PDF 解析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560320" y="5029200"/>
            <a:ext cx="210312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633472" y="5102352"/>
            <a:ext cx="19568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PyMuPDF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754880" y="5029200"/>
            <a:ext cx="210312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828032" y="5102352"/>
            <a:ext cx="19568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pdfplumber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949440" y="5029200"/>
            <a:ext cx="365760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022592" y="5102352"/>
            <a:ext cx="35112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C 底层速度快中文支持好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D2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八、局限与改进方向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11064240" cy="6858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280160"/>
            <a:ext cx="54864" cy="685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353312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Microsoft YaHei"/>
              </a:defRPr>
            </a:pPr>
            <a:r>
              <a:t>PDF 仅提取文字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353312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含图表的文档信息丢失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1353312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0B981"/>
                </a:solidFill>
                <a:latin typeface="Microsoft YaHei"/>
              </a:defRPr>
            </a:pPr>
            <a:r>
              <a:t>解决方案：增加表格和图片提取模块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057400"/>
            <a:ext cx="1106424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057400"/>
            <a:ext cx="54864" cy="685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130552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Microsoft YaHei"/>
              </a:defRPr>
            </a:pPr>
            <a:r>
              <a:t>无 Rerank 重排序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2130552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Top-K 中可能含弱相关片段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2130552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0B981"/>
                </a:solidFill>
                <a:latin typeface="Microsoft YaHei"/>
              </a:defRPr>
            </a:pPr>
            <a:r>
              <a:t>解决方案：接入 Cross-Encoder Reranker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834640"/>
            <a:ext cx="11064240" cy="6858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2834640"/>
            <a:ext cx="54864" cy="685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2907792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Microsoft YaHei"/>
              </a:defRPr>
            </a:pPr>
            <a:r>
              <a:t>无权限隔离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2907792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所有用户共享知识库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2907792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0B981"/>
                </a:solidFill>
                <a:latin typeface="Microsoft YaHei"/>
              </a:defRPr>
            </a:pPr>
            <a:r>
              <a:t>解决方案：Collection 级命名空间隔离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611880"/>
            <a:ext cx="1106424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3611880"/>
            <a:ext cx="54864" cy="685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3685032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Microsoft YaHei"/>
              </a:defRPr>
            </a:pPr>
            <a:r>
              <a:t>分块粒度固定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3685032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不同类型文档用同一参数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3685032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0B981"/>
                </a:solidFill>
                <a:latin typeface="Microsoft YaHei"/>
              </a:defRPr>
            </a:pPr>
            <a:r>
              <a:t>解决方案：按文档类型动态调整策略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4389120"/>
            <a:ext cx="11064240" cy="6858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" y="4389120"/>
            <a:ext cx="54864" cy="685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462272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Microsoft YaHei"/>
              </a:defRPr>
            </a:pPr>
            <a:r>
              <a:t>对话不跨会话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4462272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关闭后历史丢失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4462272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0B981"/>
                </a:solidFill>
                <a:latin typeface="Microsoft YaHei"/>
              </a:defRPr>
            </a:pPr>
            <a:r>
              <a:t>解决方案：接入 SQLite 或 Redis 持久化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5166360"/>
            <a:ext cx="1106424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5166360"/>
            <a:ext cx="54864" cy="685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" y="5239512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Microsoft YaHei"/>
              </a:defRPr>
            </a:pPr>
            <a:r>
              <a:t>无评测体系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00400" y="5239512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无法量化检索质量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5239512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0B981"/>
                </a:solidFill>
                <a:latin typeface="Microsoft YaHei"/>
              </a:defRPr>
            </a:pPr>
            <a:r>
              <a:t>解决方案：构建测试集加 Recall@K 和 MRR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D2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九、演示方案与答辩准备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5303520" cy="38404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389888"/>
            <a:ext cx="5266944" cy="36576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0876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56DB"/>
                </a:solidFill>
                <a:latin typeface="Microsoft YaHei"/>
              </a:defRPr>
            </a:pPr>
            <a:r>
              <a:t>CLI 演示（3 分钟）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74520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  * 知识库问答：查询提交截止日期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30552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  * 跨文档综合：什么是 RAG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386584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  * 拒答演示：查询无关问题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642616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  * 展示查询解析过程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371600"/>
            <a:ext cx="5303520" cy="38404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27648" y="1389888"/>
            <a:ext cx="5266944" cy="36576"/>
          </a:xfrm>
          <a:prstGeom prst="rect">
            <a:avLst/>
          </a:prstGeom>
          <a:solidFill>
            <a:srgbClr val="14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50876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48A8A"/>
                </a:solidFill>
                <a:latin typeface="Microsoft YaHei"/>
              </a:defRPr>
            </a:pPr>
            <a:r>
              <a:t>Streamlit 演示（5 分钟）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1874520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  * 侧边栏展示文档块数和来源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130552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  * 连续提问展示对话历史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386584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  * 调试模式展示搜索词和过滤条件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642616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  * 调节 Top-K 和最大距离阈值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898648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  * 展开检索来源查看分数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5029200"/>
            <a:ext cx="11064240" cy="13716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5029200"/>
            <a:ext cx="54864" cy="1371600"/>
          </a:xfrm>
          <a:prstGeom prst="rect">
            <a:avLst/>
          </a:prstGeom>
          <a:solidFill>
            <a:srgbClr val="0D2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512064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D233F"/>
                </a:solidFill>
                <a:latin typeface="Microsoft YaHei"/>
              </a:defRPr>
            </a:pPr>
            <a:r>
              <a:t>答辩 Q&amp;A 准备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44068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9E0B"/>
                </a:solidFill>
                <a:latin typeface="Microsoft YaHei"/>
              </a:defRPr>
            </a:pPr>
            <a:r>
              <a:t>问：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544068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Embedding API 限流怎么办？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51960" y="544068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0B981"/>
                </a:solidFill>
                <a:latin typeface="Microsoft YaHei"/>
              </a:defRPr>
            </a:pPr>
            <a:r>
              <a:t>答：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5440680"/>
            <a:ext cx="6858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本地 GPU 嵌入，完全离线不存在限流问题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571500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9E0B"/>
                </a:solidFill>
                <a:latin typeface="Microsoft YaHei"/>
              </a:defRPr>
            </a:pPr>
            <a:r>
              <a:t>问：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" y="571500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向量数据库崩溃怎么恢复？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51960" y="571500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0B981"/>
                </a:solidFill>
                <a:latin typeface="Microsoft YaHei"/>
              </a:defRPr>
            </a:pPr>
            <a:r>
              <a:t>答：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80560" y="5715000"/>
            <a:ext cx="6858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备份 vector_store 目录，5 分钟重建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598932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9E0B"/>
                </a:solidFill>
                <a:latin typeface="Microsoft YaHei"/>
              </a:defRPr>
            </a:pPr>
            <a:r>
              <a:t>问：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" y="598932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为什么选 ChromaDB 不是 Milvus？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51960" y="598932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0B981"/>
                </a:solidFill>
                <a:latin typeface="Microsoft YaHei"/>
              </a:defRPr>
            </a:pPr>
            <a:r>
              <a:t>答：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80560" y="5989320"/>
            <a:ext cx="6858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零部署，教育场景够用；做了抽象封装可迁移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" y="626364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9E0B"/>
                </a:solidFill>
                <a:latin typeface="Microsoft YaHei"/>
              </a:defRPr>
            </a:pPr>
            <a:r>
              <a:t>问：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" y="626364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1000 篇文档怎么增量更新？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51960" y="626364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0B981"/>
                </a:solidFill>
                <a:latin typeface="Microsoft YaHei"/>
              </a:defRPr>
            </a:pPr>
            <a:r>
              <a:t>答：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80560" y="6263640"/>
            <a:ext cx="6858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当前 upsert 去重，后续可做增量索引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3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731520" y="-731520"/>
            <a:ext cx="2286000" cy="2286000"/>
          </a:xfrm>
          <a:prstGeom prst="ellipse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457200"/>
            <a:ext cx="3200400" cy="3200400"/>
          </a:xfrm>
          <a:prstGeom prst="ellipse">
            <a:avLst/>
          </a:prstGeom>
          <a:solidFill>
            <a:srgbClr val="14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4572000"/>
            <a:ext cx="4572000" cy="4572000"/>
          </a:xfrm>
          <a:prstGeom prst="ellipse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1371600" y="5029200"/>
            <a:ext cx="2743200" cy="2743200"/>
          </a:xfrm>
          <a:prstGeom prst="ellipse">
            <a:avLst/>
          </a:prstGeom>
          <a:solidFill>
            <a:srgbClr val="14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0" y="2286000"/>
            <a:ext cx="7589520" cy="22860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46888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谢谢聆听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29184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  <a:latin typeface="Microsoft YaHei"/>
              </a:defRPr>
            </a:pPr>
            <a:r>
              <a:t>大数据学期项目计划二 -- RAG 检索增强生成助手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8463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94A3B8"/>
                </a:solidFill>
                <a:latin typeface="Microsoft YaHei"/>
              </a:defRPr>
            </a:pPr>
            <a:r>
              <a:t>代码文档齐全  |  45 个以上测试用例  |  全流程可复现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